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37"/>
  </p:notesMasterIdLst>
  <p:handoutMasterIdLst>
    <p:handoutMasterId r:id="rId38"/>
  </p:handoutMasterIdLst>
  <p:sldIdLst>
    <p:sldId id="283" r:id="rId5"/>
    <p:sldId id="1000" r:id="rIdRevision33"/>
    <p:sldId id="284" r:id="rId6"/>
    <p:sldId id="287" r:id="rId7"/>
    <p:sldId id="285" r:id="rId8"/>
    <p:sldId id="288" r:id="rId9"/>
    <p:sldId id="286" r:id="rId10"/>
    <p:sldId id="289" r:id="rId11"/>
    <p:sldId id="290" r:id="rId12"/>
    <p:sldId id="291" r:id="rId13"/>
    <p:sldId id="1001" r:id="rIdRevision34"/>
    <p:sldId id="1002" r:id="rIdRevision35"/>
    <p:sldId id="292" r:id="rId14"/>
    <p:sldId id="312" r:id="rId15"/>
    <p:sldId id="303" r:id="rId16"/>
    <p:sldId id="293" r:id="rId17"/>
    <p:sldId id="294" r:id="rId18"/>
    <p:sldId id="308" r:id="rId19"/>
    <p:sldId id="309" r:id="rId20"/>
    <p:sldId id="295" r:id="rId21"/>
    <p:sldId id="304" r:id="rId22"/>
    <p:sldId id="305" r:id="rId23"/>
    <p:sldId id="296" r:id="rId24"/>
    <p:sldId id="313" r:id="rId25"/>
    <p:sldId id="307" r:id="rId26"/>
    <p:sldId id="310" r:id="rId27"/>
    <p:sldId id="1004" r:id="rId43"/>
    <p:sldId id="311" r:id="rId28"/>
    <p:sldId id="306" r:id="rId29"/>
    <p:sldId id="297" r:id="rId30"/>
    <p:sldId id="298" r:id="rId31"/>
    <p:sldId id="299" r:id="rId32"/>
    <p:sldId id="1003" r:id="rIdRevision36"/>
    <p:sldId id="300" r:id="rId34"/>
    <p:sldId id="301" r:id="rId35"/>
    <p:sldId id="302" r:id="rId36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  <p14:sldId id="284"/>
            <p14:sldId id="287"/>
            <p14:sldId id="285"/>
            <p14:sldId id="288"/>
            <p14:sldId id="286"/>
            <p14:sldId id="289"/>
            <p14:sldId id="290"/>
            <p14:sldId id="291"/>
          </p14:sldIdLst>
        </p14:section>
        <p14:section name="目录页" id="{9D221634-295C-7843-AF5C-A0CB4F229241}">
          <p14:sldIdLst>
            <p14:sldId id="292"/>
            <p14:sldId id="312"/>
            <p14:sldId id="303"/>
            <p14:sldId id="293"/>
            <p14:sldId id="294"/>
            <p14:sldId id="308"/>
            <p14:sldId id="309"/>
            <p14:sldId id="295"/>
            <p14:sldId id="304"/>
            <p14:sldId id="305"/>
            <p14:sldId id="296"/>
            <p14:sldId id="313"/>
            <p14:sldId id="307"/>
            <p14:sldId id="310"/>
            <p14:sldId id="311"/>
          </p14:sldIdLst>
        </p14:section>
        <p14:section name="背景介绍" id="{B1B5C009-F5E6-4E91-A009-6CFE1EB697E5}">
          <p14:sldIdLst/>
        </p14:section>
        <p14:section name="成果汇报" id="{D4029F9A-FE66-4876-98FA-62CC25B2F5E1}">
          <p14:sldIdLst>
            <p14:sldId id="306"/>
            <p14:sldId id="297"/>
            <p14:sldId id="298"/>
            <p14:sldId id="299"/>
          </p14:sldIdLst>
        </p14:section>
        <p14:section name="成果展示和后续计划" id="{D0CD2B7C-7C6B-443D-A0C6-C49F60ADD934}">
          <p14:sldIdLst/>
        </p14:section>
        <p14:section name="结束页" id="{3F9D54A7-3BE2-2540-BB4C-DFE5509085F3}">
          <p14:sldIdLst>
            <p14:sldId id="280"/>
            <p14:sldId id="300"/>
            <p14:sldId id="301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6A8F"/>
    <a:srgbClr val="FFFFFF"/>
    <a:srgbClr val="172F45"/>
    <a:srgbClr val="276A8F"/>
    <a:srgbClr val="4A5968"/>
    <a:srgbClr val="172F45"/>
    <a:srgbClr val="748391"/>
    <a:srgbClr val="748391"/>
    <a:srgbClr val="A4B3BF"/>
    <a:srgbClr val="D7E0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28" autoAdjust="0"/>
    <p:restoredTop sz="96253" autoAdjust="0"/>
  </p:normalViewPr>
  <p:slideViewPr>
    <p:cSldViewPr snapToGrid="0" snapToObjects="1">
      <p:cViewPr varScale="1">
        <p:scale>
          <a:sx n="93" d="100"/>
          <a:sy n="93" d="100"/>
        </p:scale>
        <p:origin x="197" y="82"/>
      </p:cViewPr>
      <p:guideLst/>
    </p:cSldViewPr>
  </p:slideViewPr>
  <p:outlineViewPr>
    <p:cViewPr>
      <p:scale>
        <a:sx n="33" d="100"/>
        <a:sy n="33" d="100"/>
      </p:scale>
      <p:origin x="0" y="-23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Relationship Id="rIdRevision33" Type="http://schemas.openxmlformats.org/officeDocument/2006/relationships/slide" Target="slides/slide33.xml"/><Relationship Id="rIdRevision34" Type="http://schemas.openxmlformats.org/officeDocument/2006/relationships/slide" Target="slides/slide34.xml"/><Relationship Id="rIdRevision35" Type="http://schemas.openxmlformats.org/officeDocument/2006/relationships/slide" Target="slides/slide35.xml"/><Relationship Id="rIdRevision36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QPM</c:v>
                </c:pt>
              </c:strCache>
            </c:strRef>
          </c:tx>
          <c:spPr>
            <a:solidFill>
              <a:srgbClr val="276A8F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4A596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366-43E8-A936-038730DA721B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C366-43E8-A936-038730DA721B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172F45"/>
                    </a:solidFill>
                    <a:latin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w/o OmniPlacement</c:v>
                </c:pt>
                <c:pt idx="1">
                  <c:v>with OmniPlacement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463</c:v>
                </c:pt>
                <c:pt idx="1">
                  <c:v>616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C366-43E8-A936-038730DA721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A4B3BF"/>
            </a:solidFill>
          </a:ln>
        </c:spPr>
        <c:txPr>
          <a:bodyPr/>
          <a:lstStyle/>
          <a:p>
            <a:pPr>
              <a:defRPr sz="1000">
                <a:solidFill>
                  <a:srgbClr val="4A5968"/>
                </a:solidFill>
                <a:latin typeface="Arial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0"/>
          <c:min val="0"/>
        </c:scaling>
        <c:delete val="0"/>
        <c:axPos val="l"/>
        <c:majorGridlines>
          <c:spPr>
            <a:ln w="9525">
              <a:solidFill>
                <a:srgbClr val="D7E0E7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 w="9525">
            <a:solidFill>
              <a:srgbClr val="A4B3BF"/>
            </a:solidFill>
          </a:ln>
        </c:spPr>
        <c:txPr>
          <a:bodyPr/>
          <a:lstStyle/>
          <a:p>
            <a:pPr>
              <a:defRPr sz="900">
                <a:solidFill>
                  <a:srgbClr val="4A5968"/>
                </a:solidFill>
                <a:latin typeface="Arial"/>
              </a:defRPr>
            </a:pPr>
            <a:endParaRPr lang="zh-CN"/>
          </a:p>
        </c:txPr>
        <c:crossAx val="-2068027336"/>
        <c:crosses val="autoZero"/>
        <c:crossBetween val="between"/>
        <c:majorUnit val="20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各位老师、领导、同事好，我是陶壮。我的博士后周期是 2025 年 1 月到 2027 年 1 月，今天汇报目前在大模型基础设施方向的研究与工程进展。主要分成三块：专家负载均衡、数据工程平台和推理网关。其中，OmniPlacement 是研究主线，另外两块更多体现平台开发和业务工程实践。我会先交代问题，再讲自己具体做了什么。</a:t>
            </a:r>
          </a:p>
          <a:p/>
          <a:p>
            <a:r>
              <a:rPr/>
              <a:t>参考资料</a:t>
            </a:r>
          </a:p>
          <a:p>
            <a:r>
              <a:rPr/>
              <a:t>本人确认的博士后周期；汇报日期为 2026年9月18日。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这三块工作对应三个问题。第一，多卡推理时，怎样避免少数热点专家拖慢整体？第二，数据平台里，资产怎样登记、管理和使用？第三，请求进入推理网关后，应该发给哪个集群？先从第一块讲起。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开题探索是在 2025 年 1 到 3 月，最初确定的方向是利用 MoE 模型的专家亲和性优化推理。实际开展后，我逐步聚焦到了专家负载不均这个具体问题，形成了排布、冗余和动态调整的实现。原来设想中的专家预读取和语义理解，没有形成独立成果，保留为后续探索。下面重点汇报已经做出来的部分。</a:t>
            </a:r>
          </a:p>
          <a:p/>
          <a:p>
            <a:r>
              <a:rPr/>
              <a:t>参考资料</a:t>
            </a:r>
          </a:p>
          <a:p>
            <a:r>
              <a:rPr/>
              <a:t>本人对开题探索阶段的确认；中期报告/博士后开题报告-陶壮.pptx；主计划的开题目标对照。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第一部分是 OmniPlacement。这里的问题很直接：即使每张卡放了同样多的专家，实际计算量也可能差很多。我的工作就是围绕这些热点，研究怎样放置、什么时候调整，以及怎样把方案接入推理框架。</a:t>
            </a:r>
          </a:p>
          <a:p/>
          <a:p>
            <a:r>
              <a:rPr/>
              <a:t>参考资料</a:t>
            </a:r>
          </a:p>
          <a:p>
            <a:r>
              <a:rPr/>
              <a:t>相关项目/omniinfer 历史 placement 模块；相关项目/omni-eplb；中期技术报告。</a:t>
            </a:r>
          </a:p>
          <a:p>
            <a:r>
              <a:rPr/>
              <a:t>项目地址（本人于 2026-09-18 提供）：https://gitee.com/omniai/omniinfer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先看它在整个项目里的位置。OmniInfer 是团队的推理加速框架，里面还有请求调度和计算优化。我主要参与图中标出的 OmniPlacement，处理的是一次推理内部的专家排布和在线均衡。后面讲的 LiteLLM 则是在集群之间选择请求去向，两者不是同一层的问题。</a:t>
            </a:r>
          </a:p>
          <a:p/>
          <a:p>
            <a:r>
              <a:t>参考资料</a:t>
            </a:r>
          </a:p>
          <a:p>
            <a:r>
              <a:t>相关项目/omniinfer 历史 placement 模块；相关项目/omni-eplb；中期技术报告。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MoE 虽然只激活一部分专家，但被选中的专家不一定均匀。假设专家数量分得一样，一边全是热门专家，另一边访问很少，前者就可能成为慢卡。而且不同层的热点也不同。所以，排布需要看真实激活分布，同时还要考虑调整带来的显存和通信成本。</a:t>
            </a:r>
          </a:p>
          <a:p/>
          <a:p>
            <a:r>
              <a:t>参考资料</a:t>
            </a:r>
          </a:p>
          <a:p>
            <a:r>
              <a:t>相关项目/omniinfer 历史 placement 模块；相关项目/omni-eplb；中期技术报告。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的思路可以先拆成两个动作。第一个是重排，把挤在一张卡上的热点挪开，利用其他卡的余量。第二个是冗余，如果一个专家本身就特别忙，再给它增加物理副本。右边画的是这两种动作的示意，左边是中期材料中的激活分布。接下来要解决的是，有限的副本预算究竟怎么分。</a:t>
            </a:r>
          </a:p>
          <a:p/>
          <a:p>
            <a:r>
              <a:t>参考资料</a:t>
            </a:r>
          </a:p>
          <a:p>
            <a:r>
              <a:t>热力图来自中期考核报告第 5 页；右侧为机制示意。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算不够时，不能每一层、每个专家都加副本。这里分几步：先选择需要额外副本的层，再根据热度给专家分配副本，最后落到实际设备和主机上。计算时先按副本均分负载来估计，副本数变了，估计值也跟着更新。这个方法是面向部署约束的启发式方案，实际表现还要结合运行结果看。</a:t>
            </a:r>
          </a:p>
          <a:p/>
          <a:p>
            <a:r>
              <a:t>参考资料</a:t>
            </a:r>
          </a:p>
          <a:p>
            <a:r>
              <a:t>相关项目/omniinfer 历史 placement 模块；相关项目/omni-eplb；中期技术报告。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离线排布解决初始状态，但运行中热点会变化。这时也不能一看到变化就搬专家，因为搬迁本身有成本。我在这里设置了两道判断：当前负载是否已经明显不均，新方案是否有足够改善。两道条件都满足才接受更新，避免为了很小的变化频繁调整。</a:t>
            </a:r>
          </a:p>
          <a:p/>
          <a:p>
            <a:r>
              <a:t>参考资料</a:t>
            </a:r>
          </a:p>
          <a:p>
            <a:r>
              <a:t>相关项目/omniinfer 历史 placement 模块；相关项目/omni-eplb；中期技术报告。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开源以后，工作更集中在接入和运行上。比如分层冗余和共享专家怎样部署，动态调整怎样批量发送，遇到 LongCat、Qwen 这类模型差异怎样适配。还有一部分工作是 UT、CLI 配置和 YAML 更新，最后延续到新 HCCL context 和独立 SDK。这些都是让算法能够持续被使用所需要的工作。</a:t>
            </a:r>
          </a:p>
          <a:p/>
          <a:p>
            <a:r>
              <a:t>参考资料</a:t>
            </a:r>
          </a:p>
          <a:p>
            <a:r>
              <a:t>相关项目/omniinfer 历史 placement 模块；相关项目/omni-eplb；中期技术报告。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这一页补充开源阶段的工程规模。现存历史中，可以追溯到 13 项已合入 PR，以及这些累计代码变更。内容既有新增实现，也有重构、测试和配置整理，所以删除行数也不少。前面讲的内部阶段单独统计，没有直接加到这里。下面再看组件独立之后的形态。</a:t>
            </a:r>
          </a:p>
          <a:p/>
          <a:p>
            <a:r>
              <a:t>参考资料</a:t>
            </a:r>
          </a:p>
          <a:p>
            <a:r>
              <a:t>PR/MR 逐项核对文档；主计划第 24 节；研发历程版 _build/data_19_metrics.json（DataInfra）。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早期代码在 OmniInfer 的 placement 模块里，随着框架一起演进。后来相关能力独立成 Omni-EPLB，接口、配置和运行时组件可以单独维护。我在这里主要想说明，独立 SDK 是能力和接入方式的延续，历史工作仍然需要连着前面的版本一起看。</a:t>
            </a:r>
          </a:p>
          <a:p/>
          <a:p>
            <a:r>
              <a:rPr/>
              <a:t>参考资料</a:t>
            </a:r>
          </a:p>
          <a:p>
            <a:r>
              <a:rPr/>
              <a:t>相关项目/omniinfer 历史 placement 模块；相关项目/omni-eplb；中期技术报告。</a:t>
            </a:r>
          </a:p>
          <a:p>
            <a:r>
              <a:rPr/>
              <a:t>项目地址（本人于 2026-09-18 提供）：https://gitee.com/omniai/omni-eplb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再看实际效果。这张图来自 OmniInfer 团队论文的组件消融，比较的是其他组件保留、仅改变是否启用 OmniPlacement。在这套配置下，QPM 从 463 到 616，提高了 33.0%；TPOT 和端到端延迟也下降了。不过首 token 延迟从 1.342 秒增加到 2.292 秒，所以收益主要体现在吞吐和生成阶段，不能理解为所有延迟都改善了。完整数据在附录。</a:t>
            </a:r>
          </a:p>
          <a:p/>
          <a:p>
            <a:r>
              <a:t>参考资料</a:t>
            </a:r>
          </a:p>
          <a:p>
            <a:r>
              <a:t>2511.22481v2.pdf，第 6 页 Table 2、§5.2.2；§5.1 与 Appendix B。QPM 原表单位括注与正文定义不一致，沿用原值。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第二部分转到 DataInfra。这里关注的不是推理怎么跑，而是数据怎样被登记、管理和使用。我先简单介绍整个项目，再沿着用户入口到元数据服务这条链路，讲我做的几块开发。</a:t>
            </a:r>
          </a:p>
          <a:p/>
          <a:p>
            <a:r>
              <a:rPr/>
              <a:t>参考资料</a:t>
            </a:r>
          </a:p>
          <a:p>
            <a:r>
              <a:rPr/>
              <a:t>相关项目/data_infra_platform/docs/architecture/ 与 docs/modules/；Extensions、GMS、frontend、Data Agent 相关提交。</a:t>
            </a:r>
          </a:p>
          <a:p>
            <a:r>
              <a:rPr/>
              <a:t>项目地址（本人于 2026-09-18 提供）：https://codehub-g.huawei.com/AI_Infra/AI_Infra_DataFlow/data_infra_platform/home；内部仓库，仅随当前内部材料使用。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DataInfra 的底座解决两件事：数据资产要能管理，产线和任务要能运行，过程信息还要回到元数据系统。Data Agent 在这个架构里的定位就是语义层。用户先提出业务问题，比如找什么数据、字段是什么意思、数据从哪里来，Agent 把这些问题对应到元数据里的实体和关系，再选择工具完成查询或注册。这样，用户不必先了解 URN 和接口细节。普通门户和 API 的操作路径仍然保留，产线调度与运行由原有服务负责。下面再定位到我在各层具体做的工作。</a:t>
            </a:r>
          </a:p>
          <a:p/>
          <a:p>
            <a:r>
              <a:rPr/>
              <a:t>参考资料</a:t>
            </a:r>
          </a:p>
          <a:p>
            <a:r>
              <a:rPr/>
              <a:t>相关项目/data_infra_platform/docs/architecture/数据工程架构设计说明书.md §2；docs/modules/datahub_chat对话模块设计说明书.md §2—3；docs/modules/Metadata元数据定义.md；libs/datahub_extensions/datahub_chat/chat/service/chat_service.py（SYSTEM_PROMPT 与 chat_stream）；chat/mcp/tools/datahub/search.py。</a:t>
            </a:r>
          </a:p>
          <a:p>
            <a:r>
              <a:rPr/>
              <a:t>本人本轮确认：Data Agent 的架构定位就是 DataInfra 的语义层，不表述为设计探索；相关架构与语义理解工作不以新增 PR 衡量，现有 19 项 PR 与代码量不变。图中 Agent 当前接入元数据查询和注册工具，未表示 Agent 已接管产线执行、构建完整企业本体或指标计算引擎。</a:t>
            </a:r>
          </a:p>
          <a:p>
            <a:r>
              <a:rPr/>
              <a:t>概念对照：https://docs.getdbt.com/docs/use-dbt-semantic-layer/dbt-sl（2026-09-17）。该资料说明指标型语义层集中定义业务指标；本汇报按项目定位采用面向资产含义、关系和操作约束的语义层，不声称已集成 dbt/MetricFlow。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在整体平台里，我主要打通元数据能力与用户入口之间的链路。Extensions 做网关与 SDK 拆分，GMS 处理企业接入和角色策略，frontend 把登录、管理与资产操作接起来。Data Agent 则承担语义层的职责，把用户的业务问题对应到数据实体、关系和操作规则。这里既有对话工具、配置、实体链接与页面跳转的实现，也包括语义理解和架构组织上的工作。接下来先讲扩展服务和前后端，再回到 Agent。</a:t>
            </a:r>
          </a:p>
          <a:p/>
          <a:p>
            <a:r>
              <a:rPr/>
              <a:t>参考资料</a:t>
            </a:r>
          </a:p>
          <a:p>
            <a:r>
              <a:rPr/>
              <a:t>相关项目/data_infra_platform/docs/architecture/数据工程架构设计说明书.md §2；docs/modules/datahub_chat对话模块设计说明书.md §2—3；docs/modules/Metadata元数据定义.md；libs/datahub_extensions/datahub_chat/chat/service/chat_service.py（SYSTEM_PROMPT 与 chat_stream）；chat/mcp/tools/datahub/search.py。</a:t>
            </a:r>
          </a:p>
          <a:p>
            <a:r>
              <a:rPr/>
              <a:t>本人本轮确认：Data Agent 的架构定位就是 DataInfra 的语义层，不表述为设计探索；相关架构与语义理解工作不以新增 PR 衡量，现有 19 项 PR 与代码量不变。图中 Agent 当前接入元数据查询和注册工具，未表示 Agent 已接管产线执行、构建完整企业本体或指标计算引擎。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先说扩展层重构。原来 EntityBuilder 里混着建模、查询、发送和 API 逻辑，要分别测试或复用都不方便。我把 HTTP 入口和业务能力拆开：页面经统一 API 进来，其他平台模块可以直接用注册 SDK。SDK 内部再把实体构造、校验编排和 I/O 分层。这样改一次注册逻辑，不需要每个调用方再各做一份。</a:t>
            </a:r>
          </a:p>
          <a:p/>
          <a:p>
            <a:r>
              <a:t>参考资料</a:t>
            </a:r>
          </a:p>
          <a:p>
            <a:r>
              <a:t>相关项目/data_infra_platform/docs/architecture/ 与 docs/modules/；Extensions、GMS、frontend、Data Agent 相关提交。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企业接入也不只是加一个 SSO 按钮。认证、账号映射、准入名单、角色和 Token 都要连起来。一个具体难点是 GMS 和 Play frontend 不共享会话：GMS 完成认证，并不等于门户已经有了自己的登录态。所以需要把身份和凭证继续传递到门户，后续访问再由服务端判权。</a:t>
            </a:r>
          </a:p>
          <a:p/>
          <a:p>
            <a:r>
              <a:t>参考资料</a:t>
            </a:r>
          </a:p>
          <a:p>
            <a:r>
              <a:t>相关项目/data_infra_platform/docs/architecture/ 与 docs/modules/；Extensions、GMS、frontend、Data Agent 相关提交。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后台能力接好以后，还要让用户能在页面上操作。Play frontend 负责会话和凭证衔接，React 提供名单管理、授权、注册、预览以及 Agent 入口。这里完整的路径是：拿到用户身份，展示可以操作的入口，带凭证调用，最后由服务端检查权限。页面上有没有按钮，和服务端是否允许操作，是两件事。</a:t>
            </a:r>
          </a:p>
          <a:p/>
          <a:p>
            <a:r>
              <a:t>参考资料</a:t>
            </a:r>
          </a:p>
          <a:p>
            <a:r>
              <a:t>相关项目/data_infra_platform/docs/architecture/ 与 docs/modules/；Extensions、GMS、frontend、Data Agent 相关提交。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这里说的语义层，可以用一个问题来理解：这个数据集从哪里来，包含哪些字段？用户不需要先知道 URN 或接口名。Agent 先理解他问的是来源和结构，再找到真实的数据实体，调用血缘和 Schema 工具，最后解释查询结果，并给出可以打开的资产链接。领域、描述、标签、字段和血缘，构成理解数据的上下文；注册工具的模板与校验规则，说明操作需要满足什么条件。我的工作既包括这一层的语义理解与组织，也包括让它真正可用的对话、工具和实体跳转链路。</a:t>
            </a:r>
          </a:p>
          <a:p/>
          <a:p>
            <a:r>
              <a:rPr/>
              <a:t>参考资料</a:t>
            </a:r>
          </a:p>
          <a:p>
            <a:r>
              <a:rPr/>
              <a:t>相关项目/data_infra_platform/docs/architecture/数据工程架构设计说明书.md §2；docs/modules/datahub_chat对话模块设计说明书.md §2—3；docs/modules/Metadata元数据定义.md；libs/datahub_extensions/datahub_chat/chat/service/chat_service.py（SYSTEM_PROMPT 与 chat_stream）；chat/mcp/tools/datahub/search.py。</a:t>
            </a:r>
          </a:p>
          <a:p>
            <a:r>
              <a:rPr/>
              <a:t>本人本轮确认：Data Agent 的架构定位就是 DataInfra 的语义层，不表述为设计探索；相关架构与语义理解工作不以新增 PR 衡量，现有 19 项 PR 与代码量不变。图中 Agent 当前接入元数据查询和注册工具，未表示 Agent 已接管产线执行、构建完整企业本体或指标计算引擎。</a:t>
            </a:r>
          </a:p>
          <a:p>
            <a:r>
              <a:rPr/>
              <a:t>概念对照：https://docs.getdbt.com/docs/use-dbt-semantic-layer/dbt-sl（2026-09-17）。该资料说明指标型语义层集中定义业务指标；本汇报按项目定位采用面向资产含义、关系和操作约束的语义层，不声称已集成 dbt/MetricFlow。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DataInfra 这一阶段，我发起并合入了 19 项 PR。工作从 SSO、准入和权限开始，逐步延伸到 Extensions 重构、门户资产操作，再到 Data Agent。这里的代码量也只统计这 19 项里的署名提交，并对相同补丁去重，包含测试、配置和文档。对我来说，更重要的是前面几页讲的这些能力能够接成完整的使用路径。</a:t>
            </a:r>
          </a:p>
          <a:p/>
          <a:p>
            <a:r>
              <a:t>参考资料</a:t>
            </a:r>
          </a:p>
          <a:p>
            <a:r>
              <a:t>PR/MR 逐项核对文档；主计划第 24 节；研发历程版 _build/data_19_metrics.json（DataInfra）。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第三部分是 LiteLLM 网关。这一块可以和前面的 EPLB 联系起来：EPLB 优化模型内部的专家负载，网关则把负载均衡放到模型服务层，决定业务请求交给哪个模型集群。下面先看整体架构，再把这两个层级展开。</a:t>
            </a:r>
          </a:p>
          <a:p/>
          <a:p>
            <a:r>
              <a:rPr/>
              <a:t>参考资料</a:t>
            </a:r>
          </a:p>
          <a:p>
            <a:r>
              <a:rPr/>
              <a:t>SEG 技术评审报告 §2.1；本人确认的模型服务级推理优化定位。</a:t>
            </a:r>
          </a:p>
          <a:p>
            <a:r>
              <a:rPr/>
              <a:t>项目地址（本人于 2026-09-18 提供）：https://gitee.com/omniai/omni-elb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先沿着请求走一遍：业务经过入口进入 LiteLLM，完成协议、Key、配额和健康候选处理，再转发到模型集群。下面的 Redis、监控和实例管理提供运行支撑。接下来重点讲中间的路由选择，以及它依赖的状态链路。</a:t>
            </a:r>
          </a:p>
          <a:p/>
          <a:p>
            <a:r>
              <a:t>参考资料</a:t>
            </a:r>
          </a:p>
          <a:p>
            <a:r>
              <a:t>SEG技术评审报告.md §2.1；omni-elb/litellm/router/api_key_router.py；独立刷新与计数修复 !100、!98。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健康检查只能回答哪些集群可用，还没有回答这个请求该发给谁。路由选择要结合三类信息：请求是谁发来的，之前是否已经有会话映射，当前各集群负载怎样。输出的结果，要么是继续使用原来的健康集群，要么是选一个新目标。</a:t>
            </a:r>
          </a:p>
          <a:p/>
          <a:p>
            <a:r>
              <a:t>参考资料</a:t>
            </a:r>
          </a:p>
          <a:p>
            <a:r>
              <a:t>SEG技术评审报告.md §2.1；omni-elb/litellm/router/api_key_router.py；独立刷新与计数修复 !100、!98。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这套路由是我和同事一起设计的。对带 user_id 的请求，先看缓存里的集群是否健康，能继续用就保持会话。没有可复用映射时，再从最低负载的 10% 候选里随机选一个，避免新请求都同时涌向同一个目标。PipelineKey 和 APIKeyHash 保留各自的兼容路径。负载数据读不到时，使用哈希兜底。左边就是给这套选择逻辑提供负载的链路。</a:t>
            </a:r>
          </a:p>
          <a:p/>
          <a:p>
            <a:r>
              <a:t>参考资料</a:t>
            </a:r>
          </a:p>
          <a:p>
            <a:r>
              <a:t>SEG技术评审报告.md §2.1；omni-elb/litellm/router/api_key_router.py；独立刷新与计数修复 !100、!98。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为了让路由读到的状态可靠，我补了两项工程工作。第一是独立 Redis 刷新，把分散脚本和手工配置整理起来，从接口读取模型与集群信息，再和监控数据对上，遇到缺失或改名也有提示和回退。第二是修复 PipelineKey 请求的重复计数。否则请求本身没有变，监控却可能把负载报高，路由看到的信号就不准确。</a:t>
            </a:r>
          </a:p>
          <a:p/>
          <a:p>
            <a:r>
              <a:t>参考资料</a:t>
            </a:r>
          </a:p>
          <a:p>
            <a:r>
              <a:t>SEG技术评审报告.md §2.1；omni-elb/litellm/router/api_key_router.py；独立刷新与计数修复 !100、!98。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这一页集中展示已经形成的成果。左边是 OmniPlacement 技术报告，整理了我们在昇腾大规模 MoE 推理中做负载均衡的方法和工程经验。右边是我作为共同作者参与的 OmniInfer 论文，2025 年 11 月首次公开，会议为 SESAME’26 @ EuroSys。论文中的 OmniPlacement 消融实验，也为前面介绍的性能对比提供了依据。除此之外，还有 3 项专利申请、1 项技术发布和 8 项成果转化。</a:t>
            </a:r>
          </a:p>
          <a:p/>
          <a:p>
            <a:r>
              <a:rPr/>
              <a:t>参考资料</a:t>
            </a:r>
          </a:p>
          <a:p>
            <a:r>
              <a:rPr/>
              <a:t>论文全名：OmniInfer: System-Wide Acceleration Techniques for Optimizing LLM Serving Throughput and Latency</a:t>
            </a:r>
          </a:p>
          <a:p>
            <a:r>
              <a:rPr/>
              <a:t>arXiv 条目作者：Jun Wang, Yunxiang Yao, Wenwei Kuang, Runze Mao, Zhenhao Sun, Zhuang Tao, Ziyang Zhang, Dengyu Li, Jiajun Chen, Zhili Wang, Kai Cui, Congzhi Cai, Longwen Lan, Ken Zhang</a:t>
            </a:r>
          </a:p>
          <a:p>
            <a:r>
              <a:rPr/>
              <a:t>预印本首次提交：2025-11-27；v2 更新：2026-08-07。</a:t>
            </a:r>
          </a:p>
          <a:p>
            <a:r>
              <a:rPr/>
              <a:t>会议：SESAME’26 @ EuroSys（4th Workshop on Serverless Systems, Applications and Methodologies）。</a:t>
            </a:r>
          </a:p>
          <a:p>
            <a:r>
              <a:rPr/>
              <a:t>会议论文 DOI：https://doi.org/10.1145/3802803.3802911</a:t>
            </a:r>
          </a:p>
          <a:p>
            <a:r>
              <a:rPr/>
              <a:t>arXiv 条目：https://arxiv.org/abs/2511.22481</a:t>
            </a:r>
          </a:p>
          <a:p>
            <a:r>
              <a:rPr/>
              <a:t>本地论文全文：2511.22481v2.pdf。arXiv 摘要条目列 14 位作者，v2 全文列 22 位作者，以上名单明确对应摘要条目。会议年份为 2026，与预印本首次提交日期分开记录。</a:t>
            </a:r>
          </a:p>
          <a:p>
            <a:r>
              <a:rPr/>
              <a:t>技术报告：中期报告/OmniPlacement-昇腾超大规模MoE模型推理负载均衡技术报告.pdf。</a:t>
            </a:r>
          </a:p>
          <a:p>
            <a:r>
              <a:rPr/>
              <a:t>专利、发布与成果转化数量：本人确认及主计划第 28 节。性能数据保持团队论文的组件消融口径，不转述为个人独立成果。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最后回到这两年的工作。OmniPlacement 让我把方法做到推理框架里；DataInfra 让我把后台能力一直接到用户入口；网关工作则让我更关注算法依赖的状态和运行问题。三项工作各自解决不同的问题，但对我共同的要求都是：方案不仅要讲得清楚，还要在系统里实现出来、接得起来。后续会继续补评估、权限和运行观测。</a:t>
            </a:r>
          </a:p>
          <a:p/>
          <a:p>
            <a:r>
              <a:t>参考资料</a:t>
            </a:r>
          </a:p>
          <a:p>
            <a:r>
              <a:t>论文.md；主计划第 20、23、24 节；对应项目设计文档和代码。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讲述要点</a:t>
            </a:r>
          </a:p>
          <a:p>
            <a:r>
              <a:t>感谢各位专家，请批评指正。</a:t>
            </a:r>
          </a:p>
          <a:p>
            <a:endParaRPr/>
          </a:p>
          <a:p>
            <a:r>
              <a:t>资料来源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负载模型的补充。如果要展开，可以先定义专家激活量、副本数和设备映射，再按副本分摊估计每张卡的负载。目标是降低最忙设备的负载，同时满足槽位、显存和副本上限。通信和在线更新的成本，需要在这个简化模型之外继续考虑。</a:t>
            </a:r>
          </a:p>
          <a:p/>
          <a:p>
            <a:r>
              <a:t>参考资料</a:t>
            </a:r>
          </a:p>
          <a:p>
            <a:r>
              <a:t>相关项目/omniinfer 历史 placement 模块；相关项目/omni-eplb；中期技术报告。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这里保留论文中完整的九项对比。吞吐类指标上升，生成阶段和端到端延迟下降，两个 TTFT 指标上升。比较时只改变是否启用 OmniPlacement，变化率都以未启用的结果为基准。QPM 采用论文原表数值，不自行换算单位。论文没有给出重复次数与误差区间，所以这里也不补推这些统计结论。</a:t>
            </a:r>
          </a:p>
          <a:p/>
          <a:p>
            <a:r>
              <a:t>参考资料</a:t>
            </a:r>
          </a:p>
          <a:p>
            <a:r>
              <a:t>2511.22481v2.pdf，第 6 页 Table 2、§5.2.2；§5.1 与 Appendix B。QPM 原表单位括注与正文定义不一致，沿用原值。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如果需要进一步展开个人工作，可以按这张表逐项说明。OmniPlacement 从内部 C++ 开发一路延续到工具、适配和 SDK；DataInfra 覆盖扩展层、GMS、门户和 Agent；网关部分包括协作路由设计以及我实现的刷新、计数修复。具体问题可以回到对应模块和记录里讨论。</a:t>
            </a:r>
          </a:p>
          <a:p/>
          <a:p>
            <a:r>
              <a:t>参考资料</a:t>
            </a:r>
          </a:p>
          <a:p>
            <a:r>
              <a:t>论文.md；主计划第 20、23、24 节；对应项目设计文档和代码。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我的博士后周期是 2025 年 1 月到 2027 年 1 月，这里汇报截至 2026 年 9 月的进展。最初 1 到 3 月主要做开题探索，确定以 MoE 模型的专家亲和性推理优化为探索方向。3 月开始进入内部仓库的 C++ 开发，随着实现和讨论推进，工作逐步落到专家排布、冗余和动态均衡。开源以后继续处理工具、适配和运行问题，再延续到独立 SDK。2026 年还参与了 DataInfra 和 LiteLLM 网关，两项工程工作有一段时间并行推进。</a:t>
            </a:r>
          </a:p>
          <a:p/>
          <a:p>
            <a:r>
              <a:rPr/>
              <a:t>参考资料</a:t>
            </a:r>
          </a:p>
          <a:p>
            <a:r>
              <a:rPr/>
              <a:t>本人确认的博士后周期与 2025 年 1—3 月开题探索；历史记录.txt；开题报告；主计划第 24—25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这里补充一段容易被后续开源记录盖住的工作。2025 年 3 月到 7 月，我们还在内部仓库研发，我已经在做 C++ 核心类、接口、参数约束，以及排序、rank 检查和异常处理。历史里能找到 46 条内部 MR 创建记录。与此同时，4 月就已经在讨论多冗余、热冷卡分配、调整值不值得，以及不同层需要多少冗余。这些问题后来逐步进入方案和实现。46 指历史创建记录，完整合入状态没有全部保留下来。</a:t>
            </a:r>
          </a:p>
          <a:p/>
          <a:p>
            <a:r>
              <a:t>参考资料</a:t>
            </a:r>
          </a:p>
          <a:p>
            <a:r>
              <a:t>历史记录.txt；PR核对与开源前工作梳理_20260911/PR_MR逐项核对与开源前工作总结.md。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方法也不是一次写完的。5 月先做交换优化和简单权重交换，6 月继续处理冗余与非冗余场景，修订确定性，再尝试 greedy、bucket 和不同排序、停止条件。这些讨论和实现有同事共同参与。我同时补了 Pattern 流水线、UT、调试开关、可视化和文档，让每轮修改都能比较、定位问题，再往系统里接。</a:t>
            </a:r>
          </a:p>
          <a:p/>
          <a:p>
            <a:r>
              <a:t>参考资料</a:t>
            </a:r>
          </a:p>
          <a:p>
            <a:r>
              <a:t>历史记录.txt；PR核对与开源前工作梳理_20260911/PR_MR逐项核对与开源前工作总结.md。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最后，感谢领导和导师一直以来的指导与支持。特别感谢 Ken Zhang 老师，指导我从工程实践中提炼研究问题，也把理论上的思考落实到系统实现。还要感谢一起做项目的同事，很多方案是在讨论中逐渐清楚的，很多问题也是大家一起排查、联调才解决的。我的汇报到这里，谢谢各位专家，请批评指正。</a:t>
            </a:r>
          </a:p>
          <a:p/>
          <a:p>
            <a:r>
              <a:rPr/>
              <a:t>参考资料</a:t>
            </a:r>
          </a:p>
          <a:p>
            <a:r>
              <a:rPr/>
              <a:t>特别感谢内容由本人确认；姓名按 Ken Zhang 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前面讲 EPLB，这里讲请求路由，可以把它们联系起来看。网关做的是模型服务级的推理优化，先解决一个请求交给哪个集群；EPLB 处理模型内部的专家负载，解决热点计算怎样分到不同的卡上。请求路由看会话、集群健康和并发状态，EPLB 看专家激活分布，再调整专家排布和副本。两者都在处理局部过载，只是调度对象和作用范围不同。接下来继续看，服务层具体怎样选择集群。</a:t>
            </a:r>
          </a:p>
          <a:p/>
          <a:p>
            <a:r>
              <a:rPr/>
              <a:t>参考资料</a:t>
            </a:r>
          </a:p>
          <a:p>
            <a:r>
              <a:rPr/>
              <a:t>Omni-ELB SEG 报告 §2.1、api_key_router.py；OmniPlacement 技术报告与代码；本人确认的层级关联表述。本页是作用层级示意，不表示两套系统已经联合部署，也没有新增联合性能结论。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 userDrawn="1">
          <p15:clr>
            <a:srgbClr val="C4AC6B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276A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72F45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46348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72F45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3.xml.rels><?xml version='1.0' encoding='UTF-8' standalone='yes'?>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'1.0' encoding='UTF-8' standalone='yes'?>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92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72F45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93" r:id="rId2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ee.com/omniai/omniinfer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3" Type="http://schemas.openxmlformats.org/officeDocument/2006/relationships/hyperlink" Target="https://gitee.com/omniai/omni-eplb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odehub-g.huawei.com/AI_Infra/AI_Infra_DataFlow/data_infra_platform/home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ee.com/omniai/omni-elb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3" Type="http://schemas.openxmlformats.org/officeDocument/2006/relationships/hyperlink" Target="https://arxiv.org/abs/2511.22481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a16:creationId xmlns:a16="http://schemas.microsoft.com/office/drawing/2014/main" id="{5A377CBB-5B38-421F-A92D-53D306254B1B}"/>
              </a:ext>
            </a:extLst>
          </p:cNvPr>
          <p:cNvSpPr>
            <a:spLocks noGrp="1"/>
          </p:cNvSpPr>
          <p:nvPr/>
        </p:nvSpPr>
        <p:spPr>
          <a:xfrm>
            <a:off x="762000" y="66675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76A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6A8F"/>
                </a:solidFill>
                <a:latin typeface="Microsoft YaHei"/>
                <a:ea typeface="Microsoft YaHei"/>
                <a:cs typeface="Microsoft YaHei"/>
              </a:rPr>
              <a:t>博士后出站考核汇报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870DAEE-C5BB-4235-9B9A-4AA7832BF0E9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172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2F45"/>
                </a:solidFill>
                <a:latin typeface="Microsoft YaHei"/>
                <a:ea typeface="Microsoft YaHei"/>
                <a:cs typeface="Microsoft YaHei"/>
              </a:rPr>
              <a:t>大模型基础设施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7A8181F-0B2A-4F5C-A40A-86FCCB574384}"/>
              </a:ext>
            </a:extLst>
          </p:cNvPr>
          <p:cNvSpPr>
            <a:spLocks noGrp="1"/>
          </p:cNvSpPr>
          <p:nvPr/>
        </p:nvSpPr>
        <p:spPr>
          <a:xfrm>
            <a:off x="762000" y="26955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172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2F45"/>
                </a:solidFill>
                <a:latin typeface="Microsoft YaHei"/>
                <a:ea typeface="Microsoft YaHei"/>
                <a:cs typeface="Microsoft YaHei"/>
              </a:rPr>
              <a:t>关键技术研究与工程实践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8387BD4D-5B98-41B7-9A5B-A7C073B0963C}"/>
              </a:ext>
            </a:extLst>
          </p:cNvPr>
          <p:cNvSpPr>
            <a:spLocks noGrp="1"/>
          </p:cNvSpPr>
          <p:nvPr/>
        </p:nvSpPr>
        <p:spPr>
          <a:xfrm>
            <a:off x="762000" y="37623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4A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A5968"/>
                </a:solidFill>
                <a:latin typeface="Microsoft YaHei"/>
                <a:ea typeface="Microsoft YaHei"/>
                <a:cs typeface="Microsoft YaHei"/>
              </a:rPr>
              <a:t>MoE 专家负载均衡、数据工程平台与推理网关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41BF1ED3-B9FC-476B-B7E6-EE193F7041C0}"/>
              </a:ext>
            </a:extLst>
          </p:cNvPr>
          <p:cNvSpPr>
            <a:spLocks noGrp="1"/>
          </p:cNvSpPr>
          <p:nvPr/>
        </p:nvSpPr>
        <p:spPr>
          <a:xfrm>
            <a:off x="762000" y="49815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F45"/>
                </a:solidFill>
                <a:latin typeface="Microsoft YaHei"/>
                <a:ea typeface="Microsoft YaHei"/>
                <a:cs typeface="Microsoft YaHei"/>
              </a:rPr>
              <a:t>汇报人：陶壮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C3E64D5C-F9B3-49DB-B743-4016E3C8FB59}"/>
              </a:ext>
            </a:extLst>
          </p:cNvPr>
          <p:cNvSpPr>
            <a:spLocks noGrp="1"/>
          </p:cNvSpPr>
          <p:nvPr/>
        </p:nvSpPr>
        <p:spPr>
          <a:xfrm>
            <a:off x="762000" y="5543550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4A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A5968"/>
                </a:solidFill>
                <a:latin typeface="Microsoft YaHei"/>
                <a:ea typeface="Microsoft YaHei"/>
                <a:cs typeface="Microsoft YaHei"/>
              </a:rPr>
              <a:t>汇报日期：2026年9月18日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围绕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三类问题</a:t>
            </a: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，介绍这两年的工作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2095500"/>
            <a:ext cx="74295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276A8F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250" y="2114550"/>
            <a:ext cx="8524875" cy="409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 i="0">
                <a:solidFill>
                  <a:srgbClr val="172F45"/>
                </a:solidFill>
                <a:latin typeface="Arial"/>
                <a:ea typeface="Microsoft YaHei"/>
              </a:rPr>
              <a:t>OmniInfer：OmniPlacement 研究与实现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250" y="2628900"/>
            <a:ext cx="852487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专家为什么不均衡，怎样排布，怎样在线调整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352800"/>
            <a:ext cx="74295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276A8F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250" y="3371850"/>
            <a:ext cx="8524875" cy="409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 i="0">
                <a:solidFill>
                  <a:srgbClr val="172F45"/>
                </a:solidFill>
                <a:latin typeface="Arial"/>
                <a:ea typeface="Microsoft YaHei"/>
              </a:rPr>
              <a:t>DataInfra：数据工程平台开发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250" y="3886200"/>
            <a:ext cx="852487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先看平台，再讲 Extensions、GMS、frontend 和 Data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610100"/>
            <a:ext cx="74295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276A8F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0250" y="4629150"/>
            <a:ext cx="8524875" cy="409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 i="0">
                <a:solidFill>
                  <a:srgbClr val="172F45"/>
                </a:solidFill>
                <a:latin typeface="Arial"/>
                <a:ea typeface="Microsoft YaHei"/>
              </a:rPr>
              <a:t>Omni-ELB：LiteLLM 网关与请求路由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0250" y="5143500"/>
            <a:ext cx="852487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请求怎样选集群，负载状态怎样刷新和维护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开题目标与完成情况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开题后的研究重点落在了专家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负载均衡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研究目标始终是优化推理，实际工作逐步聚焦到专家排布和动态均衡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2000" y="2038350"/>
          <a:ext cx="10668000" cy="3276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开题方向</a:t>
                      </a:r>
                    </a:p>
                  </a:txBody>
                  <a:tcPr marL="95250" marR="95250" marT="85725" marB="85725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实际开展的工作</a:t>
                      </a:r>
                    </a:p>
                  </a:txBody>
                  <a:tcPr marL="95250" marR="95250" marT="85725" marB="85725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目前进展</a:t>
                      </a:r>
                    </a:p>
                  </a:txBody>
                  <a:tcPr marL="95250" marR="95250" marT="85725" marB="85725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276A8F"/>
                          </a:solidFill>
                          <a:latin typeface="Arial"/>
                          <a:ea typeface="Microsoft YaHei"/>
                        </a:rPr>
                        <a:t>专家亲和性与通信优化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专家冷热建模、重排、冗余与拓扑排布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重点落在专家负载均衡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276A8F"/>
                          </a:solidFill>
                          <a:latin typeface="Arial"/>
                          <a:ea typeface="Microsoft YaHei"/>
                        </a:rPr>
                        <a:t>完善推理规划组件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Pattern 工具、动态调整、通信与适配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完成核心实现并持续迭代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276A8F"/>
                          </a:solidFill>
                          <a:latin typeface="Arial"/>
                          <a:ea typeface="Microsoft YaHei"/>
                        </a:rPr>
                        <a:t>技术报告与论文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OmniPlacement 技术报告、OmniInfer 团队论文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方法总结与系统实验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276A8F"/>
                          </a:solidFill>
                          <a:latin typeface="Arial"/>
                          <a:ea typeface="Microsoft YaHei"/>
                        </a:rPr>
                        <a:t>专家预读取与语义理解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暂未形成独立研究成果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留作后续探索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857375"/>
            <a:ext cx="1619250" cy="1000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600" b="1" i="0">
                <a:solidFill>
                  <a:srgbClr val="276A8F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71750" y="1971675"/>
            <a:ext cx="885825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0" i="0">
                <a:solidFill>
                  <a:srgbClr val="172F45"/>
                </a:solidFill>
                <a:latin typeface="Arial"/>
                <a:ea typeface="Microsoft YaHei"/>
              </a:rPr>
              <a:t>OmniInfer：OmniPlacement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571750" y="2952750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71750" y="3295650"/>
            <a:ext cx="7953375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500" b="0" i="0">
                <a:solidFill>
                  <a:srgbClr val="4A5968"/>
                </a:solidFill>
                <a:latin typeface="Arial"/>
                <a:ea typeface="Microsoft YaHei"/>
              </a:rPr>
              <a:t>围绕专家冷热不均，研究排布方法，并把它接入实际推理框架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18" name="Editable 18"/>
          <p:cNvSpPr txBox="1"/>
          <p:nvPr/>
        </p:nvSpPr>
        <p:spPr>
          <a:xfrm>
            <a:off x="2571750" y="4191000"/>
            <a:ext cx="88582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748391"/>
                </a:solidFill>
                <a:latin typeface="Arial"/>
                <a:ea typeface="Microsoft YaHei"/>
              </a:rPr>
              <a:t>项目仓库</a:t>
            </a:r>
          </a:p>
        </p:txBody>
      </p:sp>
      <p:sp>
        <p:nvSpPr>
          <p:cNvPr id="19" name="Editable 19"/>
          <p:cNvSpPr txBox="1"/>
          <p:nvPr/>
        </p:nvSpPr>
        <p:spPr>
          <a:xfrm>
            <a:off x="2571750" y="4552950"/>
            <a:ext cx="885825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sng">
                <a:solidFill>
                  <a:srgbClr val="276A8F"/>
                </a:solidFill>
                <a:latin typeface="Arial"/>
                <a:ea typeface="Microsoft YaHei"/>
                <a:hlinkClick r:id="rId4" tooltip="项目仓库：OmniInfer"/>
              </a:rPr>
              <a:t>https://gitee.com/omniai/omniinfer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01 / 在项目中的工作位置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在 OmniInfer 中，我主要做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专家负载均衡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我的工作集中在图中的 OmniPlacement 模块：排布、动态更新，以及接入这些能力的工具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2038350"/>
            <a:ext cx="3429000" cy="108585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5350" y="2162175"/>
            <a:ext cx="31623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OmniInfer 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524125"/>
            <a:ext cx="3162300" cy="561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面向昇腾的 MoE 推理加速框架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409950"/>
            <a:ext cx="3429000" cy="1181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兼容 vLLM 等推理框架
覆盖请求调度、计算与专家均衡
支持大规模 MoE 推理部署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1500" y="2038350"/>
            <a:ext cx="7048500" cy="2609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2950" y="2200275"/>
            <a:ext cx="6705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推理框架与加速组件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657475"/>
            <a:ext cx="3143250" cy="781050"/>
          </a:xfrm>
          <a:prstGeom prst="rect">
            <a:avLst/>
          </a:prstGeom>
          <a:solidFill>
            <a:srgbClr val="F5F7FA"/>
          </a:solidFill>
          <a:ln w="11430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86300" y="2752725"/>
            <a:ext cx="29146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请求与 PD 调度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6300" y="3076575"/>
            <a:ext cx="291465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Global Proxy / 序列调度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657475"/>
            <a:ext cx="3238500" cy="781050"/>
          </a:xfrm>
          <a:prstGeom prst="rect">
            <a:avLst/>
          </a:prstGeom>
          <a:solidFill>
            <a:srgbClr val="F5F7FA"/>
          </a:solidFill>
          <a:ln w="11430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5300" y="2752725"/>
            <a:ext cx="30099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计算与执行优化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5300" y="3076575"/>
            <a:ext cx="30099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注意力 / 融合算子 / MTP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3695700"/>
            <a:ext cx="6667500" cy="742950"/>
          </a:xfrm>
          <a:prstGeom prst="rect">
            <a:avLst/>
          </a:prstGeom>
          <a:solidFill>
            <a:srgbClr val="FFFFFF"/>
          </a:solidFill>
          <a:ln w="11430">
            <a:solidFill>
              <a:srgbClr val="276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6300" y="3790950"/>
            <a:ext cx="64389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276A8F"/>
                </a:solidFill>
                <a:latin typeface="Arial"/>
                <a:ea typeface="Microsoft YaHei"/>
              </a:rPr>
              <a:t>OmniPlacement：我的主要工作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6300" y="4114800"/>
            <a:ext cx="64389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专家排布、冗余副本、在线均衡与工具链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29100" y="2571750"/>
            <a:ext cx="133350" cy="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01 / 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专家分得均匀，卡上的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负载</a:t>
            </a: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仍可能不均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排布要跟着实际负载走，不能只看每张卡放了多少个专家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2038350"/>
            <a:ext cx="2524125" cy="10668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5350" y="217170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Router / Top-K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514600"/>
            <a:ext cx="2257425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确定逻辑专家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4700" y="2571750"/>
            <a:ext cx="123825" cy="0"/>
          </a:xfrm>
          <a:prstGeom prst="line">
            <a:avLst/>
          </a:prstGeom>
          <a:ln w="1778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76625" y="2038350"/>
            <a:ext cx="2524125" cy="10668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09975" y="217170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9975" y="2514600"/>
            <a:ext cx="2257425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向专家所在卡发令牌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29325" y="2571750"/>
            <a:ext cx="123825" cy="0"/>
          </a:xfrm>
          <a:prstGeom prst="line">
            <a:avLst/>
          </a:prstGeom>
          <a:ln w="1778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191250" y="2038350"/>
            <a:ext cx="2524125" cy="1066800"/>
          </a:xfrm>
          <a:prstGeom prst="rect">
            <a:avLst/>
          </a:prstGeom>
          <a:solidFill>
            <a:srgbClr val="EDF4F8"/>
          </a:solidFill>
          <a:ln w="9525">
            <a:solidFill>
              <a:srgbClr val="B7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4600" y="217170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76A8F"/>
                </a:solidFill>
                <a:latin typeface="Arial"/>
                <a:ea typeface="Microsoft YaHei"/>
              </a:rPr>
              <a:t>Expert Compute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2514600"/>
            <a:ext cx="2257425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各卡执行专家计算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43950" y="2571750"/>
            <a:ext cx="123825" cy="0"/>
          </a:xfrm>
          <a:prstGeom prst="line">
            <a:avLst/>
          </a:prstGeom>
          <a:ln w="1778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905875" y="2038350"/>
            <a:ext cx="2524125" cy="10668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39225" y="217170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Combine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9225" y="2514600"/>
            <a:ext cx="2257425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汇总专家输出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676650"/>
            <a:ext cx="3429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有些专家更忙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4086225"/>
            <a:ext cx="3429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专家数量均匀分配，
不代表计算量均匀分配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1500" y="3676650"/>
            <a:ext cx="3429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不同层的热点不同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1500" y="4086225"/>
            <a:ext cx="3429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不同 MoE 层的激活分布不同，
统一冗余预算难以适配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676650"/>
            <a:ext cx="3429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调整也有成本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086225"/>
            <a:ext cx="3429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额外副本占用显存，
跨卡通信和在线更新也有代价</a:t>
            </a:r>
          </a:p>
        </p:txBody>
      </p:sp>
      <p:sp>
        <p:nvSpPr>
          <p:cNvPr id="31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01 / 技术方案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两种办法：挪开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热点</a:t>
            </a: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，增加热点副本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先把热点分散开；如果一个专家仍然太忙，再给它增加副本</a:t>
            </a:r>
          </a:p>
        </p:txBody>
      </p:sp>
      <p:pic>
        <p:nvPicPr>
          <p:cNvPr id="10" name="Picture 9" descr="slide_5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24050"/>
            <a:ext cx="2389035" cy="3524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76625" y="2124075"/>
            <a:ext cx="2524125" cy="781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热点随层、随卡变化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6625" y="2905125"/>
            <a:ext cx="2524125" cy="1238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同样数量的专家，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可能带来不同的计算压力。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0" y="2038350"/>
            <a:ext cx="52387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重排：把同一卡上的热点分开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2300" y="2333625"/>
            <a:ext cx="1819275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48391"/>
                </a:solidFill>
                <a:latin typeface="Arial"/>
                <a:ea typeface="Microsoft YaHei"/>
              </a:rPr>
              <a:t>卡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4450" y="2333625"/>
            <a:ext cx="1819275" cy="142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48391"/>
                </a:solidFill>
                <a:latin typeface="Arial"/>
                <a:ea typeface="Microsoft YaHei"/>
              </a:rPr>
              <a:t>卡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48725" y="2495550"/>
            <a:ext cx="9525" cy="1171575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91250" y="2571750"/>
            <a:ext cx="685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 i="0">
                <a:solidFill>
                  <a:srgbClr val="748391"/>
                </a:solidFill>
                <a:latin typeface="Arial"/>
                <a:ea typeface="Microsoft YaHei"/>
              </a:rPr>
              <a:t>调整前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72300" y="2486025"/>
            <a:ext cx="838200" cy="381000"/>
          </a:xfrm>
          <a:prstGeom prst="rect">
            <a:avLst/>
          </a:prstGeom>
          <a:solidFill>
            <a:srgbClr val="EDF4F8"/>
          </a:solidFill>
          <a:ln w="9525">
            <a:solidFill>
              <a:srgbClr val="B7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72300" y="2581275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76A8F"/>
                </a:solidFill>
                <a:latin typeface="Arial"/>
                <a:ea typeface="Microsoft YaHei"/>
              </a:rPr>
              <a:t>热专家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3375" y="2486025"/>
            <a:ext cx="838200" cy="381000"/>
          </a:xfrm>
          <a:prstGeom prst="rect">
            <a:avLst/>
          </a:prstGeom>
          <a:solidFill>
            <a:srgbClr val="EDF4F8"/>
          </a:solidFill>
          <a:ln w="9525">
            <a:solidFill>
              <a:srgbClr val="B7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3375" y="2581275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76A8F"/>
                </a:solidFill>
                <a:latin typeface="Arial"/>
                <a:ea typeface="Microsoft YaHei"/>
              </a:rPr>
              <a:t>热专家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34450" y="2486025"/>
            <a:ext cx="838200" cy="3810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34450" y="2581275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A5968"/>
                </a:solidFill>
                <a:latin typeface="Arial"/>
                <a:ea typeface="Microsoft YaHei"/>
              </a:rPr>
              <a:t>冷专家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15525" y="2486025"/>
            <a:ext cx="838200" cy="3810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15525" y="2581275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A5968"/>
                </a:solidFill>
                <a:latin typeface="Arial"/>
                <a:ea typeface="Microsoft YaHei"/>
              </a:rPr>
              <a:t>冷专家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77125" y="2952750"/>
            <a:ext cx="0" cy="238125"/>
          </a:xfrm>
          <a:prstGeom prst="line">
            <a:avLst/>
          </a:prstGeom>
          <a:ln w="1778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91250" y="3381375"/>
            <a:ext cx="685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 i="0">
                <a:solidFill>
                  <a:srgbClr val="748391"/>
                </a:solidFill>
                <a:latin typeface="Arial"/>
                <a:ea typeface="Microsoft YaHei"/>
              </a:rPr>
              <a:t>调整后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72300" y="3295650"/>
            <a:ext cx="838200" cy="381000"/>
          </a:xfrm>
          <a:prstGeom prst="rect">
            <a:avLst/>
          </a:prstGeom>
          <a:solidFill>
            <a:srgbClr val="EDF4F8"/>
          </a:solidFill>
          <a:ln w="9525">
            <a:solidFill>
              <a:srgbClr val="B7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72300" y="3390900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76A8F"/>
                </a:solidFill>
                <a:latin typeface="Arial"/>
                <a:ea typeface="Microsoft YaHei"/>
              </a:rPr>
              <a:t>热专家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3375" y="3295650"/>
            <a:ext cx="838200" cy="3810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3375" y="3390900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A5968"/>
                </a:solidFill>
                <a:latin typeface="Arial"/>
                <a:ea typeface="Microsoft YaHei"/>
              </a:rPr>
              <a:t>冷专家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34450" y="3295650"/>
            <a:ext cx="838200" cy="381000"/>
          </a:xfrm>
          <a:prstGeom prst="rect">
            <a:avLst/>
          </a:prstGeom>
          <a:solidFill>
            <a:srgbClr val="EDF4F8"/>
          </a:solidFill>
          <a:ln w="9525">
            <a:solidFill>
              <a:srgbClr val="B7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34450" y="3390900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76A8F"/>
                </a:solidFill>
                <a:latin typeface="Arial"/>
                <a:ea typeface="Microsoft YaHei"/>
              </a:rPr>
              <a:t>热专家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15525" y="3295650"/>
            <a:ext cx="838200" cy="3810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15525" y="3390900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A5968"/>
                </a:solidFill>
                <a:latin typeface="Arial"/>
                <a:ea typeface="Microsoft YaHei"/>
              </a:rPr>
              <a:t>冷专家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1250" y="3981450"/>
            <a:ext cx="52387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冗余：给热门专家多一份副本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72300" y="4438650"/>
            <a:ext cx="1809750" cy="800100"/>
          </a:xfrm>
          <a:prstGeom prst="rect">
            <a:avLst/>
          </a:prstGeom>
          <a:solidFill>
            <a:srgbClr val="EDF4F8"/>
          </a:solidFill>
          <a:ln w="9525">
            <a:solidFill>
              <a:srgbClr val="B7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05650" y="4572000"/>
            <a:ext cx="15430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276A8F"/>
                </a:solidFill>
                <a:latin typeface="Arial"/>
                <a:ea typeface="Microsoft YaHei"/>
              </a:rPr>
              <a:t>同一逻辑专家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5650" y="4914900"/>
            <a:ext cx="15430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原副本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96400" y="4438650"/>
            <a:ext cx="1809750" cy="800100"/>
          </a:xfrm>
          <a:prstGeom prst="rect">
            <a:avLst/>
          </a:prstGeom>
          <a:solidFill>
            <a:srgbClr val="EDF4F8"/>
          </a:solidFill>
          <a:ln w="9525">
            <a:solidFill>
              <a:srgbClr val="B7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29750" y="4572000"/>
            <a:ext cx="15430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276A8F"/>
                </a:solidFill>
                <a:latin typeface="Arial"/>
                <a:ea typeface="Microsoft YaHei"/>
              </a:rPr>
              <a:t>同一逻辑专家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9750" y="4914900"/>
            <a:ext cx="15430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新增副本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858250" y="4838700"/>
            <a:ext cx="381000" cy="0"/>
          </a:xfrm>
          <a:prstGeom prst="line">
            <a:avLst/>
          </a:prstGeom>
          <a:ln w="1778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01 / 静态排布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冗余副本有限</a:t>
            </a: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，先给更需要的层和专家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把有限的显存预算用在热点上，同时考虑设备槽位和主机拓扑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38350"/>
            <a:ext cx="66675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76A8F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638425"/>
            <a:ext cx="34290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172F45"/>
                </a:solidFill>
                <a:latin typeface="Arial"/>
                <a:ea typeface="Microsoft YaHei"/>
              </a:rPr>
              <a:t>先决定哪些层需要冗余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219450"/>
            <a:ext cx="3429000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对高负载层启用额外副本
其他层保留基础专家部署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6250" y="2647950"/>
            <a:ext cx="9525" cy="1428750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1500" y="2038350"/>
            <a:ext cx="66675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76A8F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1500" y="2638425"/>
            <a:ext cx="34290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172F45"/>
                </a:solidFill>
                <a:latin typeface="Arial"/>
                <a:ea typeface="Microsoft YaHei"/>
              </a:rPr>
              <a:t>再决定给哪些专家加副本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1500" y="3219450"/>
            <a:ext cx="3429000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用堆维护每个副本的估计负载
优先拆分热点专家的压力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5750" y="2647950"/>
            <a:ext cx="9525" cy="1428750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01000" y="2038350"/>
            <a:ext cx="66675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76A8F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638425"/>
            <a:ext cx="34290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172F45"/>
                </a:solidFill>
                <a:latin typeface="Arial"/>
                <a:ea typeface="Microsoft YaHei"/>
              </a:rPr>
              <a:t>最后落到设备与主机上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219450"/>
            <a:ext cx="3429000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将专家分配到设备槽位
结合主机拓扑分散高负载卡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4514850"/>
            <a:ext cx="10668000" cy="8001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2500" y="4695825"/>
            <a:ext cx="5238750" cy="428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172F45"/>
                </a:solidFill>
                <a:latin typeface="Arial"/>
                <a:ea typeface="Microsoft YaHei"/>
              </a:rPr>
              <a:t>副本估计负载 = 专家激活量 / 副本数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1750" y="4705350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这里先按副本均分负载估算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实际执行还受路由与通信影响</a:t>
            </a:r>
          </a:p>
        </p:txBody>
      </p:sp>
      <p:sp>
        <p:nvSpPr>
          <p:cNvPr id="24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01 / 在线调整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负载变了要调整，但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不能频繁</a:t>
            </a: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地搬专家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先判断是否需要调整，再判断新方案是否值得替换旧方案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38350"/>
            <a:ext cx="10668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离线初始化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2447925"/>
            <a:ext cx="3429000" cy="8763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5350" y="2581275"/>
            <a:ext cx="31623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采集与整理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2924175"/>
            <a:ext cx="31623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激活数据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19575" y="2886075"/>
            <a:ext cx="123825" cy="0"/>
          </a:xfrm>
          <a:prstGeom prst="line">
            <a:avLst/>
          </a:prstGeom>
          <a:ln w="1778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81500" y="2447925"/>
            <a:ext cx="3429000" cy="8763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14850" y="2581275"/>
            <a:ext cx="31623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Pattern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850" y="2924175"/>
            <a:ext cx="31623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生成初始排布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39075" y="2886075"/>
            <a:ext cx="123825" cy="0"/>
          </a:xfrm>
          <a:prstGeom prst="line">
            <a:avLst/>
          </a:prstGeom>
          <a:ln w="1778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001000" y="2447925"/>
            <a:ext cx="3429000" cy="8763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4350" y="2581275"/>
            <a:ext cx="31623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模型加载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4350" y="2924175"/>
            <a:ext cx="31623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按 Pattern 放置专家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686175"/>
            <a:ext cx="10668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在线更新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4095750"/>
            <a:ext cx="2524125" cy="97155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5350" y="422910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激活统计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50" y="4572000"/>
            <a:ext cx="225742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汇集逐层热度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14700" y="4581525"/>
            <a:ext cx="123825" cy="0"/>
          </a:xfrm>
          <a:prstGeom prst="line">
            <a:avLst/>
          </a:prstGeom>
          <a:ln w="1778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476625" y="4095750"/>
            <a:ext cx="2524125" cy="97155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09975" y="422910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评估与候选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9975" y="4572000"/>
            <a:ext cx="225742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当前负载是否足够不均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29325" y="4581525"/>
            <a:ext cx="123825" cy="0"/>
          </a:xfrm>
          <a:prstGeom prst="line">
            <a:avLst/>
          </a:prstGeom>
          <a:ln w="1778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191250" y="4095750"/>
            <a:ext cx="2524125" cy="971550"/>
          </a:xfrm>
          <a:prstGeom prst="rect">
            <a:avLst/>
          </a:prstGeom>
          <a:solidFill>
            <a:srgbClr val="EDF4F8"/>
          </a:solidFill>
          <a:ln w="9525">
            <a:solidFill>
              <a:srgbClr val="B7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4600" y="422910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276A8F"/>
                </a:solidFill>
                <a:latin typeface="Arial"/>
                <a:ea typeface="Microsoft YaHei"/>
              </a:rPr>
              <a:t>方案接受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4572000"/>
            <a:ext cx="225742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新方案改善是否足够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43950" y="4581525"/>
            <a:ext cx="123825" cy="0"/>
          </a:xfrm>
          <a:prstGeom prst="line">
            <a:avLst/>
          </a:prstGeom>
          <a:ln w="1778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905875" y="4095750"/>
            <a:ext cx="2524125" cy="97155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39225" y="422910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迁移与更新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39225" y="4572000"/>
            <a:ext cx="225742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更新权重与映射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668000" y="5114925"/>
            <a:ext cx="0" cy="257175"/>
          </a:xfrm>
          <a:prstGeom prst="line">
            <a:avLst/>
          </a:prstGeom>
          <a:ln w="17780">
            <a:solidFill>
              <a:srgbClr val="A4B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524000" y="5372100"/>
            <a:ext cx="9144000" cy="0"/>
          </a:xfrm>
          <a:prstGeom prst="line">
            <a:avLst/>
          </a:prstGeom>
          <a:ln w="17780">
            <a:solidFill>
              <a:srgbClr val="A4B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524000" y="5114925"/>
            <a:ext cx="0" cy="257175"/>
          </a:xfrm>
          <a:prstGeom prst="line">
            <a:avLst/>
          </a:prstGeom>
          <a:ln w="1778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01 / 开源后的工程迭代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开源以后，继续解决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接入和运行</a:t>
            </a: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中的问题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算法之外，配置、接口、测试和模型差异也需要逐项处理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38350"/>
            <a:ext cx="1809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276A8F"/>
                </a:solidFill>
                <a:latin typeface="Arial"/>
                <a:ea typeface="Microsoft YaHei"/>
              </a:rPr>
              <a:t>2025.07—08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7000" y="2038350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Pattern 工具与部署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6375" y="2038350"/>
            <a:ext cx="4333875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50" b="0" i="0">
                <a:solidFill>
                  <a:srgbClr val="4A5968"/>
                </a:solidFill>
                <a:latin typeface="Arial"/>
                <a:ea typeface="Microsoft YaHei"/>
              </a:rPr>
              <a:t>数据整理、生成与分析流水线
分层冗余、共享专家场景支持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2733675"/>
            <a:ext cx="10668000" cy="9525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2000" y="2876550"/>
            <a:ext cx="1809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276A8F"/>
                </a:solidFill>
                <a:latin typeface="Arial"/>
                <a:ea typeface="Microsoft YaHei"/>
              </a:rPr>
              <a:t>2025.08—11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7000" y="2876550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运行机制与适配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6375" y="2876550"/>
            <a:ext cx="4333875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50" b="0" i="0">
                <a:solidFill>
                  <a:srgbClr val="4A5968"/>
                </a:solidFill>
                <a:latin typeface="Arial"/>
                <a:ea typeface="Microsoft YaHei"/>
              </a:rPr>
              <a:t>批量发送、动态侧算法支持
LongCat 零专家与 Qwen 适配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" y="3571875"/>
            <a:ext cx="10668000" cy="9525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2000" y="3714750"/>
            <a:ext cx="1809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276A8F"/>
                </a:solidFill>
                <a:latin typeface="Arial"/>
                <a:ea typeface="Microsoft YaHei"/>
              </a:rPr>
              <a:t>2025.09—12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7000" y="3714750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测试与配置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6375" y="3714750"/>
            <a:ext cx="4333875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50" b="0" i="0">
                <a:solidFill>
                  <a:srgbClr val="4A5968"/>
                </a:solidFill>
                <a:latin typeface="Arial"/>
                <a:ea typeface="Microsoft YaHei"/>
              </a:rPr>
              <a:t>UT 构建和硬件测试入口
CLI 配置、YAML 更新逻辑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4410075"/>
            <a:ext cx="10668000" cy="9525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2000" y="4552950"/>
            <a:ext cx="18097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276A8F"/>
                </a:solidFill>
                <a:latin typeface="Arial"/>
                <a:ea typeface="Microsoft YaHei"/>
              </a:rPr>
              <a:t>2026.03—04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7000" y="4552950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通信能力延续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6375" y="4552950"/>
            <a:ext cx="4333875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50" b="0" i="0">
                <a:solidFill>
                  <a:srgbClr val="4A5968"/>
                </a:solidFill>
                <a:latin typeface="Arial"/>
                <a:ea typeface="Microsoft YaHei"/>
              </a:rPr>
              <a:t>新 HCCL context 支持
在独立 Omni-EPLB 仓库延续</a:t>
            </a:r>
          </a:p>
        </p:txBody>
      </p:sp>
      <p:sp>
        <p:nvSpPr>
          <p:cNvPr id="29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01 / 开源阶段工作量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开源阶段持续投入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实现、重构与测试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代码改动主要围绕排布工具、运行适配和测试展开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38350"/>
            <a:ext cx="34290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276A8F"/>
                </a:solidFill>
                <a:latin typeface="Arial"/>
                <a:ea typeface="Microsoft YaHe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705100"/>
            <a:ext cx="3429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现存历史中的已合入 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1500" y="2038350"/>
            <a:ext cx="34290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276A8F"/>
                </a:solidFill>
                <a:latin typeface="Arial"/>
                <a:ea typeface="Microsoft YaHei"/>
              </a:rPr>
              <a:t>7,820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1500" y="2705100"/>
            <a:ext cx="3429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累计新增行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038350"/>
            <a:ext cx="34290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4A5968"/>
                </a:solidFill>
                <a:latin typeface="Arial"/>
                <a:ea typeface="Microsoft YaHei"/>
              </a:rPr>
              <a:t>9,993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705100"/>
            <a:ext cx="3429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累计删除行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3152775"/>
            <a:ext cx="10668000" cy="9525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62000" y="3390900"/>
          <a:ext cx="10668000" cy="14001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043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开发内容</a:t>
                      </a:r>
                    </a:p>
                  </a:txBody>
                  <a:tcPr marL="95250" marR="9525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具体工作</a:t>
                      </a:r>
                    </a:p>
                  </a:txBody>
                  <a:tcPr marL="95250" marR="95250" marT="57150" marB="5715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43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排布工具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Pattern 流水线、CLI 配置、YAML 更新和测试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43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运行与适配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分层冗余、共享专家、动态更新和模型适配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4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SDK 延续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新 HCCL context 支持，延续至 Omni-EPLB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62000" y="4981575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2025.07—2026.03 · 代码变更含源码、测试、配置和文档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01 / 架构演进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独立为 SDK 后，排布能力可以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单独接入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核心能力继续演进，接入方式从框架内模块扩展到独立 SDK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2038350"/>
            <a:ext cx="4333875" cy="10287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5350" y="2162175"/>
            <a:ext cx="406717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早期：集成于 OmniInfer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524125"/>
            <a:ext cx="4067175" cy="504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随推理框架交付排布与动态均衡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96125" y="2038350"/>
            <a:ext cx="4333875" cy="1028700"/>
          </a:xfrm>
          <a:prstGeom prst="rect">
            <a:avLst/>
          </a:prstGeom>
          <a:solidFill>
            <a:srgbClr val="EDF4F8"/>
          </a:solidFill>
          <a:ln w="9525">
            <a:solidFill>
              <a:srgbClr val="B7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9475" y="2162175"/>
            <a:ext cx="406717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276A8F"/>
                </a:solidFill>
                <a:latin typeface="Arial"/>
                <a:ea typeface="Microsoft YaHei"/>
              </a:rPr>
              <a:t>当前：独立 Omni-EPLB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9475" y="2524125"/>
            <a:ext cx="4067175" cy="504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单独维护接口、配置与运行时组件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34000" y="2552700"/>
            <a:ext cx="1647825" cy="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2000" y="3257550"/>
            <a:ext cx="4333875" cy="552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4A5968"/>
                </a:solidFill>
                <a:latin typeface="Arial"/>
                <a:ea typeface="Microsoft YaHei"/>
              </a:rPr>
              <a:t>omniinfer/omni/accelerators/placement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6125" y="3257550"/>
            <a:ext cx="4333875" cy="552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4A5968"/>
                </a:solidFill>
                <a:latin typeface="Arial"/>
                <a:ea typeface="Microsoft YaHei"/>
              </a:rPr>
              <a:t>omni-eplb/omni_placement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029075"/>
            <a:ext cx="4333875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延续已有排布与运行能力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4486275"/>
            <a:ext cx="4333875" cy="1000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Pattern 生成、分层冗余与动态均衡
批量发送、多模型适配与 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6125" y="4029075"/>
            <a:ext cx="4333875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通过接口接入不同场景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6125" y="4486275"/>
            <a:ext cx="4333875" cy="1000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Python 规划与 placement_handler
C++ 均衡器、映射及分布式操作</a:t>
            </a:r>
          </a:p>
        </p:txBody>
      </p:sp>
      <p:sp>
        <p:nvSpPr>
          <p:cNvPr id="23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15</a:t>
            </a:r>
          </a:p>
        </p:txBody>
      </p:sp>
      <p:sp>
        <p:nvSpPr>
          <p:cNvPr id="34" name="Editable 34"/>
          <p:cNvSpPr txBox="1"/>
          <p:nvPr/>
        </p:nvSpPr>
        <p:spPr>
          <a:xfrm>
            <a:off x="7096125" y="5334000"/>
            <a:ext cx="4333875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sng">
                <a:solidFill>
                  <a:srgbClr val="276A8F"/>
                </a:solidFill>
                <a:latin typeface="Arial"/>
                <a:ea typeface="Microsoft YaHei"/>
                <a:hlinkClick r:id="rId3" tooltip="独立 SDK 仓库：Omni-EPLB"/>
              </a:rPr>
              <a:t>https://gitee.com/omniai/omni-eplb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01 / OmniInfer 团队系统实验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开启 OmniPlacement 后，吞吐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提升 33.0%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81150"/>
            <a:ext cx="10668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4A5968"/>
                </a:solidFill>
                <a:latin typeface="Arial"/>
                <a:ea typeface="Microsoft YaHei"/>
              </a:rPr>
              <a:t>DeepSeek-R1 INT8，10 节点 Ascend 910C，6P8-1D32；平均输入 3.5K、输出 1K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038350"/>
            <a:ext cx="5238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QPM 对比（论文原值）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62000" y="2419350"/>
          <a:ext cx="523875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96125" y="2038350"/>
            <a:ext cx="4333875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每输出 token 延迟 TPOT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6125" y="2447925"/>
            <a:ext cx="4333875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1" i="0">
                <a:solidFill>
                  <a:srgbClr val="276A8F"/>
                </a:solidFill>
                <a:latin typeface="Arial"/>
                <a:ea typeface="Microsoft YaHei"/>
              </a:rPr>
              <a:t>降低 26.2%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6125" y="3019425"/>
            <a:ext cx="433387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由 65 ms 降至 48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6125" y="3419475"/>
            <a:ext cx="4333875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端到端延迟 E2E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6125" y="3829050"/>
            <a:ext cx="4333875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1" i="0">
                <a:solidFill>
                  <a:srgbClr val="276A8F"/>
                </a:solidFill>
                <a:latin typeface="Arial"/>
                <a:ea typeface="Microsoft YaHei"/>
              </a:rPr>
              <a:t>降低 24.1%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6125" y="4400550"/>
            <a:ext cx="433387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由 78.025 s 降至 59.206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53050"/>
            <a:ext cx="103632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endParaRPr sz="1300" b="1" i="0" dirty="0">
              <a:solidFill>
                <a:srgbClr val="20516B"/>
              </a:solidFill>
              <a:latin typeface="Arial"/>
              <a:ea typeface="Microsoft Ya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吞吐和生成阶段延迟改善，但首 token 等待更长：TTFT 从 1.342 s 增至 2.292 s</a:t>
            </a:r>
          </a:p>
        </p:txBody>
      </p:sp>
      <p:sp>
        <p:nvSpPr>
          <p:cNvPr id="22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857375"/>
            <a:ext cx="1619250" cy="1000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600" b="1" i="0">
                <a:solidFill>
                  <a:srgbClr val="276A8F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71750" y="1971675"/>
            <a:ext cx="885825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0" i="0">
                <a:solidFill>
                  <a:srgbClr val="172F45"/>
                </a:solidFill>
                <a:latin typeface="Arial"/>
                <a:ea typeface="Microsoft YaHei"/>
              </a:rPr>
              <a:t>DataInfra：数据工程平台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2571750" y="2952750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71750" y="3295650"/>
            <a:ext cx="7953375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500" b="0" i="0">
                <a:solidFill>
                  <a:srgbClr val="4A5968"/>
                </a:solidFill>
                <a:latin typeface="Arial"/>
                <a:ea typeface="Microsoft YaHei"/>
              </a:rPr>
              <a:t>这部分工作关注数据怎样登记、管理，以及怎样让用户方便地找到和使用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17</a:t>
            </a:r>
          </a:p>
        </p:txBody>
      </p:sp>
      <p:sp>
        <p:nvSpPr>
          <p:cNvPr id="18" name="Editable 18"/>
          <p:cNvSpPr txBox="1"/>
          <p:nvPr/>
        </p:nvSpPr>
        <p:spPr>
          <a:xfrm>
            <a:off x="2571750" y="4191000"/>
            <a:ext cx="88582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748391"/>
                </a:solidFill>
                <a:latin typeface="Arial"/>
                <a:ea typeface="Microsoft YaHei"/>
              </a:rPr>
              <a:t>内部项目仓库（CodeHub）</a:t>
            </a:r>
          </a:p>
        </p:txBody>
      </p:sp>
      <p:sp>
        <p:nvSpPr>
          <p:cNvPr id="19" name="Editable 19"/>
          <p:cNvSpPr txBox="1"/>
          <p:nvPr/>
        </p:nvSpPr>
        <p:spPr>
          <a:xfrm>
            <a:off x="2571750" y="4552950"/>
            <a:ext cx="885825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sng">
                <a:solidFill>
                  <a:srgbClr val="276A8F"/>
                </a:solidFill>
                <a:latin typeface="Arial"/>
                <a:ea typeface="Microsoft YaHei"/>
                <a:hlinkClick r:id="rId4" tooltip="内部项目仓库（CodeHub）：DataInfra 数据平台"/>
              </a:rPr>
              <a:t>https://codehub-g.huawei.com/AI_Infra/AI_Infra_DataFlow/data_infra_platform/home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02 / DataInfra 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Data Agent 是 DataInfra 面向用户的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语义层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18</a:t>
            </a:r>
          </a:p>
        </p:txBody>
      </p:sp>
      <p:sp>
        <p:nvSpPr>
          <p:cNvPr id="101" name="Editable 101"/>
          <p:cNvSpPr txBox="1"/>
          <p:nvPr/>
        </p:nvSpPr>
        <p:spPr>
          <a:xfrm>
            <a:off x="762000" y="15621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承接业务问题，理解数据含义与关系，再映射到元数据工具和平台接口</a:t>
            </a:r>
          </a:p>
        </p:txBody>
      </p:sp>
      <p:sp>
        <p:nvSpPr>
          <p:cNvPr id="102" name="Editable 102"/>
          <p:cNvSpPr txBox="1"/>
          <p:nvPr/>
        </p:nvSpPr>
        <p:spPr>
          <a:xfrm>
            <a:off x="762000" y="2057400"/>
            <a:ext cx="14287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用户入口</a:t>
            </a:r>
          </a:p>
        </p:txBody>
      </p:sp>
      <p:sp>
        <p:nvSpPr>
          <p:cNvPr id="103" name="Diagram box 103"/>
          <p:cNvSpPr/>
          <p:nvPr/>
        </p:nvSpPr>
        <p:spPr>
          <a:xfrm>
            <a:off x="2381250" y="1990725"/>
            <a:ext cx="9048750" cy="4191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</p:sp>
      <p:sp>
        <p:nvSpPr>
          <p:cNvPr id="104" name="Editable 104"/>
          <p:cNvSpPr txBox="1"/>
          <p:nvPr/>
        </p:nvSpPr>
        <p:spPr>
          <a:xfrm>
            <a:off x="2552700" y="2085975"/>
            <a:ext cx="87058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统一门户：资产检索、产线管理、任务管理与 Data Agent</a:t>
            </a:r>
          </a:p>
        </p:txBody>
      </p:sp>
      <p:cxnSp>
        <p:nvCxnSpPr>
          <p:cNvPr id="105" name="Diagram connector 105"/>
          <p:cNvCxnSpPr/>
          <p:nvPr/>
        </p:nvCxnSpPr>
        <p:spPr>
          <a:xfrm>
            <a:off x="5095875" y="2409825"/>
            <a:ext cx="0" cy="247650"/>
          </a:xfrm>
          <a:prstGeom prst="line">
            <a:avLst/>
          </a:prstGeom>
          <a:ln w="14288">
            <a:solidFill>
              <a:srgbClr val="A4B3BF"/>
            </a:solidFill>
            <a:tailEnd type="triangle" w="sm" len="sm"/>
          </a:ln>
        </p:spPr>
      </p:cxnSp>
      <p:cxnSp>
        <p:nvCxnSpPr>
          <p:cNvPr id="106" name="Diagram connector 106"/>
          <p:cNvCxnSpPr/>
          <p:nvPr/>
        </p:nvCxnSpPr>
        <p:spPr>
          <a:xfrm>
            <a:off x="9715500" y="2409825"/>
            <a:ext cx="0" cy="247650"/>
          </a:xfrm>
          <a:prstGeom prst="line">
            <a:avLst/>
          </a:prstGeom>
          <a:ln w="14288">
            <a:solidFill>
              <a:srgbClr val="A4B3BF"/>
            </a:solidFill>
            <a:tailEnd type="triangle" w="sm" len="sm"/>
          </a:ln>
        </p:spPr>
      </p:cxnSp>
      <p:sp>
        <p:nvSpPr>
          <p:cNvPr id="107" name="Editable 107"/>
          <p:cNvSpPr txBox="1"/>
          <p:nvPr/>
        </p:nvSpPr>
        <p:spPr>
          <a:xfrm>
            <a:off x="762000" y="2895600"/>
            <a:ext cx="1428750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276A8F"/>
                </a:solidFill>
                <a:latin typeface="Arial"/>
                <a:ea typeface="Microsoft YaHei"/>
              </a:rPr>
              <a:t>语义层</a:t>
            </a:r>
          </a:p>
        </p:txBody>
      </p:sp>
      <p:sp>
        <p:nvSpPr>
          <p:cNvPr id="108" name="Diagram box 108"/>
          <p:cNvSpPr/>
          <p:nvPr/>
        </p:nvSpPr>
        <p:spPr>
          <a:xfrm>
            <a:off x="2381250" y="2676525"/>
            <a:ext cx="5429250" cy="857250"/>
          </a:xfrm>
          <a:prstGeom prst="rect">
            <a:avLst/>
          </a:prstGeom>
          <a:solidFill>
            <a:srgbClr val="EDF4F8"/>
          </a:solidFill>
          <a:ln w="9525">
            <a:solidFill>
              <a:srgbClr val="276A8F"/>
            </a:solidFill>
          </a:ln>
          <a:effectLst/>
        </p:spPr>
      </p:sp>
      <p:sp>
        <p:nvSpPr>
          <p:cNvPr id="109" name="Editable 109"/>
          <p:cNvSpPr txBox="1"/>
          <p:nvPr/>
        </p:nvSpPr>
        <p:spPr>
          <a:xfrm>
            <a:off x="2533650" y="2771775"/>
            <a:ext cx="5124450" cy="276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276A8F"/>
                </a:solidFill>
                <a:latin typeface="Arial"/>
                <a:ea typeface="Microsoft YaHei"/>
              </a:rPr>
              <a:t>Data Agent</a:t>
            </a:r>
          </a:p>
        </p:txBody>
      </p:sp>
      <p:sp>
        <p:nvSpPr>
          <p:cNvPr id="110" name="Editable 110"/>
          <p:cNvSpPr txBox="1"/>
          <p:nvPr/>
        </p:nvSpPr>
        <p:spPr>
          <a:xfrm>
            <a:off x="2533650" y="3105150"/>
            <a:ext cx="5124450" cy="428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理解业务意图，关联元数据上下文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选择查询、血缘或注册工具</a:t>
            </a:r>
          </a:p>
        </p:txBody>
      </p:sp>
      <p:sp>
        <p:nvSpPr>
          <p:cNvPr id="111" name="Diagram box 111"/>
          <p:cNvSpPr/>
          <p:nvPr/>
        </p:nvSpPr>
        <p:spPr>
          <a:xfrm>
            <a:off x="8001000" y="2676525"/>
            <a:ext cx="3429000" cy="85725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</p:sp>
      <p:sp>
        <p:nvSpPr>
          <p:cNvPr id="112" name="Editable 112"/>
          <p:cNvSpPr txBox="1"/>
          <p:nvPr/>
        </p:nvSpPr>
        <p:spPr>
          <a:xfrm>
            <a:off x="8153400" y="2809875"/>
            <a:ext cx="3124200" cy="276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常规门户 / API 操作</a:t>
            </a:r>
          </a:p>
        </p:txBody>
      </p:sp>
      <p:sp>
        <p:nvSpPr>
          <p:cNvPr id="113" name="Editable 113"/>
          <p:cNvSpPr txBox="1"/>
          <p:nvPr/>
        </p:nvSpPr>
        <p:spPr>
          <a:xfrm>
            <a:off x="8153400" y="3219450"/>
            <a:ext cx="31242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资产、产线与任务管理</a:t>
            </a:r>
          </a:p>
        </p:txBody>
      </p:sp>
      <p:cxnSp>
        <p:nvCxnSpPr>
          <p:cNvPr id="114" name="Diagram connector 114"/>
          <p:cNvCxnSpPr/>
          <p:nvPr/>
        </p:nvCxnSpPr>
        <p:spPr>
          <a:xfrm>
            <a:off x="3829050" y="3533775"/>
            <a:ext cx="0" cy="419100"/>
          </a:xfrm>
          <a:prstGeom prst="line">
            <a:avLst/>
          </a:prstGeom>
          <a:ln w="14288">
            <a:solidFill>
              <a:srgbClr val="276A8F"/>
            </a:solidFill>
            <a:tailEnd type="triangle" w="sm" len="sm"/>
          </a:ln>
        </p:spPr>
      </p:cxnSp>
      <p:cxnSp>
        <p:nvCxnSpPr>
          <p:cNvPr id="115" name="Diagram connector 115"/>
          <p:cNvCxnSpPr/>
          <p:nvPr/>
        </p:nvCxnSpPr>
        <p:spPr>
          <a:xfrm>
            <a:off x="9715500" y="3533775"/>
            <a:ext cx="0" cy="190500"/>
          </a:xfrm>
          <a:prstGeom prst="line">
            <a:avLst/>
          </a:prstGeom>
          <a:ln w="14288">
            <a:solidFill>
              <a:srgbClr val="A4B3BF"/>
            </a:solidFill>
          </a:ln>
        </p:spPr>
      </p:cxnSp>
      <p:cxnSp>
        <p:nvCxnSpPr>
          <p:cNvPr id="116" name="Diagram connector 116"/>
          <p:cNvCxnSpPr/>
          <p:nvPr/>
        </p:nvCxnSpPr>
        <p:spPr>
          <a:xfrm>
            <a:off x="5219700" y="3724275"/>
            <a:ext cx="4762500" cy="0"/>
          </a:xfrm>
          <a:prstGeom prst="line">
            <a:avLst/>
          </a:prstGeom>
          <a:ln w="14288">
            <a:solidFill>
              <a:srgbClr val="A4B3BF"/>
            </a:solidFill>
          </a:ln>
        </p:spPr>
      </p:cxnSp>
      <p:cxnSp>
        <p:nvCxnSpPr>
          <p:cNvPr id="117" name="Diagram connector 117"/>
          <p:cNvCxnSpPr/>
          <p:nvPr/>
        </p:nvCxnSpPr>
        <p:spPr>
          <a:xfrm>
            <a:off x="5219700" y="3724275"/>
            <a:ext cx="0" cy="228600"/>
          </a:xfrm>
          <a:prstGeom prst="line">
            <a:avLst/>
          </a:prstGeom>
          <a:ln w="14288">
            <a:solidFill>
              <a:srgbClr val="A4B3BF"/>
            </a:solidFill>
            <a:tailEnd type="triangle" w="sm" len="sm"/>
          </a:ln>
        </p:spPr>
      </p:cxnSp>
      <p:cxnSp>
        <p:nvCxnSpPr>
          <p:cNvPr id="118" name="Diagram connector 118"/>
          <p:cNvCxnSpPr/>
          <p:nvPr/>
        </p:nvCxnSpPr>
        <p:spPr>
          <a:xfrm>
            <a:off x="6905625" y="3724275"/>
            <a:ext cx="0" cy="228600"/>
          </a:xfrm>
          <a:prstGeom prst="line">
            <a:avLst/>
          </a:prstGeom>
          <a:ln w="14288">
            <a:solidFill>
              <a:srgbClr val="A4B3BF"/>
            </a:solidFill>
            <a:tailEnd type="triangle" w="sm" len="sm"/>
          </a:ln>
        </p:spPr>
      </p:cxnSp>
      <p:cxnSp>
        <p:nvCxnSpPr>
          <p:cNvPr id="119" name="Diagram connector 119"/>
          <p:cNvCxnSpPr/>
          <p:nvPr/>
        </p:nvCxnSpPr>
        <p:spPr>
          <a:xfrm>
            <a:off x="9982200" y="3724275"/>
            <a:ext cx="0" cy="228600"/>
          </a:xfrm>
          <a:prstGeom prst="line">
            <a:avLst/>
          </a:prstGeom>
          <a:ln w="14288">
            <a:solidFill>
              <a:srgbClr val="A4B3BF"/>
            </a:solidFill>
            <a:tailEnd type="triangle" w="sm" len="sm"/>
          </a:ln>
        </p:spPr>
      </p:cxnSp>
      <p:sp>
        <p:nvSpPr>
          <p:cNvPr id="120" name="Editable 120"/>
          <p:cNvSpPr txBox="1"/>
          <p:nvPr/>
        </p:nvSpPr>
        <p:spPr>
          <a:xfrm>
            <a:off x="762000" y="4143375"/>
            <a:ext cx="1428750" cy="276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平台能力</a:t>
            </a:r>
          </a:p>
        </p:txBody>
      </p:sp>
      <p:sp>
        <p:nvSpPr>
          <p:cNvPr id="121" name="Diagram box 121"/>
          <p:cNvSpPr/>
          <p:nvPr/>
        </p:nvSpPr>
        <p:spPr>
          <a:xfrm>
            <a:off x="2381250" y="3971925"/>
            <a:ext cx="2886075" cy="8763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</p:sp>
      <p:sp>
        <p:nvSpPr>
          <p:cNvPr id="122" name="Editable 122"/>
          <p:cNvSpPr txBox="1"/>
          <p:nvPr/>
        </p:nvSpPr>
        <p:spPr>
          <a:xfrm>
            <a:off x="2505075" y="4086225"/>
            <a:ext cx="2638425" cy="276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76A8F"/>
                </a:solidFill>
                <a:latin typeface="Arial"/>
                <a:ea typeface="Microsoft YaHei"/>
              </a:rPr>
              <a:t>数据资产与治理</a:t>
            </a:r>
          </a:p>
        </p:txBody>
      </p:sp>
      <p:sp>
        <p:nvSpPr>
          <p:cNvPr id="123" name="Editable 123"/>
          <p:cNvSpPr txBox="1"/>
          <p:nvPr/>
        </p:nvSpPr>
        <p:spPr>
          <a:xfrm>
            <a:off x="2476500" y="4448175"/>
            <a:ext cx="2695575" cy="409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Extensions API / 注册 SDK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元数据建模、注册与查询</a:t>
            </a:r>
          </a:p>
        </p:txBody>
      </p:sp>
      <p:sp>
        <p:nvSpPr>
          <p:cNvPr id="124" name="Diagram box 124"/>
          <p:cNvSpPr/>
          <p:nvPr/>
        </p:nvSpPr>
        <p:spPr>
          <a:xfrm>
            <a:off x="5457825" y="3971925"/>
            <a:ext cx="2886075" cy="8763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</p:sp>
      <p:sp>
        <p:nvSpPr>
          <p:cNvPr id="125" name="Editable 125"/>
          <p:cNvSpPr txBox="1"/>
          <p:nvPr/>
        </p:nvSpPr>
        <p:spPr>
          <a:xfrm>
            <a:off x="5581650" y="4086225"/>
            <a:ext cx="2638425" cy="276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产线与任务管理</a:t>
            </a:r>
          </a:p>
        </p:txBody>
      </p:sp>
      <p:sp>
        <p:nvSpPr>
          <p:cNvPr id="126" name="Editable 126"/>
          <p:cNvSpPr txBox="1"/>
          <p:nvPr/>
        </p:nvSpPr>
        <p:spPr>
          <a:xfrm>
            <a:off x="5553075" y="4448175"/>
            <a:ext cx="2695575" cy="409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pipekit / Artifact Hub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Task Manager / 任务 SDK</a:t>
            </a:r>
          </a:p>
        </p:txBody>
      </p:sp>
      <p:sp>
        <p:nvSpPr>
          <p:cNvPr id="127" name="Diagram box 127"/>
          <p:cNvSpPr/>
          <p:nvPr/>
        </p:nvSpPr>
        <p:spPr>
          <a:xfrm>
            <a:off x="8534400" y="3971925"/>
            <a:ext cx="2895600" cy="8763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</p:sp>
      <p:sp>
        <p:nvSpPr>
          <p:cNvPr id="128" name="Editable 128"/>
          <p:cNvSpPr txBox="1"/>
          <p:nvPr/>
        </p:nvSpPr>
        <p:spPr>
          <a:xfrm>
            <a:off x="8658225" y="4086225"/>
            <a:ext cx="2647950" cy="276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Runtime 执行</a:t>
            </a:r>
          </a:p>
        </p:txBody>
      </p:sp>
      <p:sp>
        <p:nvSpPr>
          <p:cNvPr id="129" name="Editable 129"/>
          <p:cNvSpPr txBox="1"/>
          <p:nvPr/>
        </p:nvSpPr>
        <p:spPr>
          <a:xfrm>
            <a:off x="8629650" y="4448175"/>
            <a:ext cx="2705100" cy="409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运行插件与计算引擎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调用外部推理、采集运行状态</a:t>
            </a:r>
          </a:p>
        </p:txBody>
      </p:sp>
      <p:cxnSp>
        <p:nvCxnSpPr>
          <p:cNvPr id="130" name="Diagram connector 130"/>
          <p:cNvCxnSpPr/>
          <p:nvPr/>
        </p:nvCxnSpPr>
        <p:spPr>
          <a:xfrm>
            <a:off x="5295900" y="4410075"/>
            <a:ext cx="133350" cy="0"/>
          </a:xfrm>
          <a:prstGeom prst="line">
            <a:avLst/>
          </a:prstGeom>
          <a:ln w="14288">
            <a:solidFill>
              <a:srgbClr val="A4B3BF"/>
            </a:solidFill>
            <a:tailEnd type="triangle" w="sm" len="sm"/>
          </a:ln>
        </p:spPr>
      </p:cxnSp>
      <p:cxnSp>
        <p:nvCxnSpPr>
          <p:cNvPr id="131" name="Diagram connector 131"/>
          <p:cNvCxnSpPr/>
          <p:nvPr/>
        </p:nvCxnSpPr>
        <p:spPr>
          <a:xfrm>
            <a:off x="8382000" y="4410075"/>
            <a:ext cx="114300" cy="0"/>
          </a:xfrm>
          <a:prstGeom prst="line">
            <a:avLst/>
          </a:prstGeom>
          <a:ln w="14288">
            <a:solidFill>
              <a:srgbClr val="A4B3BF"/>
            </a:solidFill>
            <a:tailEnd type="triangle" w="sm" len="sm"/>
          </a:ln>
        </p:spPr>
      </p:cxnSp>
      <p:cxnSp>
        <p:nvCxnSpPr>
          <p:cNvPr id="132" name="Diagram connector 132"/>
          <p:cNvCxnSpPr/>
          <p:nvPr/>
        </p:nvCxnSpPr>
        <p:spPr>
          <a:xfrm>
            <a:off x="3829050" y="4848225"/>
            <a:ext cx="0" cy="400050"/>
          </a:xfrm>
          <a:prstGeom prst="line">
            <a:avLst/>
          </a:prstGeom>
          <a:ln w="14288">
            <a:solidFill>
              <a:srgbClr val="A4B3BF"/>
            </a:solidFill>
            <a:tailEnd type="triangle" w="sm" len="sm"/>
          </a:ln>
        </p:spPr>
      </p:cxnSp>
      <p:cxnSp>
        <p:nvCxnSpPr>
          <p:cNvPr id="133" name="Diagram connector 133"/>
          <p:cNvCxnSpPr/>
          <p:nvPr/>
        </p:nvCxnSpPr>
        <p:spPr>
          <a:xfrm>
            <a:off x="9982200" y="4848225"/>
            <a:ext cx="0" cy="400050"/>
          </a:xfrm>
          <a:prstGeom prst="line">
            <a:avLst/>
          </a:prstGeom>
          <a:ln w="14288">
            <a:solidFill>
              <a:srgbClr val="A4B3BF"/>
            </a:solidFill>
            <a:tailEnd type="triangle" w="sm" len="sm"/>
          </a:ln>
        </p:spPr>
      </p:cxnSp>
      <p:sp>
        <p:nvSpPr>
          <p:cNvPr id="134" name="Editable 134"/>
          <p:cNvSpPr txBox="1"/>
          <p:nvPr/>
        </p:nvSpPr>
        <p:spPr>
          <a:xfrm>
            <a:off x="8010525" y="4981575"/>
            <a:ext cx="1924050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748391"/>
                </a:solidFill>
                <a:latin typeface="Arial"/>
                <a:ea typeface="Microsoft YaHei"/>
              </a:rPr>
              <a:t>状态、结果与血缘回写</a:t>
            </a:r>
          </a:p>
        </p:txBody>
      </p:sp>
      <p:sp>
        <p:nvSpPr>
          <p:cNvPr id="135" name="Editable 135"/>
          <p:cNvSpPr txBox="1"/>
          <p:nvPr/>
        </p:nvSpPr>
        <p:spPr>
          <a:xfrm>
            <a:off x="762000" y="5381625"/>
            <a:ext cx="1428750" cy="276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元数据底座</a:t>
            </a:r>
          </a:p>
        </p:txBody>
      </p:sp>
      <p:sp>
        <p:nvSpPr>
          <p:cNvPr id="136" name="Diagram box 136"/>
          <p:cNvSpPr/>
          <p:nvPr/>
        </p:nvSpPr>
        <p:spPr>
          <a:xfrm>
            <a:off x="2381250" y="5267325"/>
            <a:ext cx="9048750" cy="4953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</p:sp>
      <p:sp>
        <p:nvSpPr>
          <p:cNvPr id="137" name="Editable 137"/>
          <p:cNvSpPr txBox="1"/>
          <p:nvPr/>
        </p:nvSpPr>
        <p:spPr>
          <a:xfrm>
            <a:off x="2524125" y="5410200"/>
            <a:ext cx="8763000" cy="276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DataHub：数据集、产线、任务、Schema 与血缘    /    Kafka 与检索索引</a:t>
            </a:r>
          </a:p>
        </p:txBody>
      </p:sp>
      <p:sp>
        <p:nvSpPr>
          <p:cNvPr id="138" name="Editable 138"/>
          <p:cNvSpPr txBox="1"/>
          <p:nvPr/>
        </p:nvSpPr>
        <p:spPr>
          <a:xfrm>
            <a:off x="762000" y="5962650"/>
            <a:ext cx="106680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748391"/>
                </a:solidFill>
                <a:latin typeface="Arial"/>
                <a:ea typeface="Microsoft YaHei"/>
              </a:rPr>
              <a:t>平台依赖：对象存储、容器资源、分布式计算、外部推理，以及统一身份与监控能力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02 / 我的开发范围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我主要打通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元数据</a:t>
            </a: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和用户入口之间的链路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沿着用户入口往下看，四块工作最终汇到同一条元数据链路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2038350"/>
            <a:ext cx="3429000" cy="790575"/>
          </a:xfrm>
          <a:prstGeom prst="rect">
            <a:avLst/>
          </a:prstGeom>
          <a:solidFill>
            <a:srgbClr val="FFFFFF"/>
          </a:solidFill>
          <a:ln w="11430">
            <a:solidFill>
              <a:srgbClr val="276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6300" y="2133600"/>
            <a:ext cx="32004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276A8F"/>
                </a:solidFill>
                <a:latin typeface="Arial"/>
                <a:ea typeface="Microsoft YaHei"/>
              </a:rPr>
              <a:t>frontend：Play / React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457450"/>
            <a:ext cx="3200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登录、管理与资产操作入口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1500" y="2038350"/>
            <a:ext cx="3429000" cy="790575"/>
          </a:xfrm>
          <a:prstGeom prst="rect">
            <a:avLst/>
          </a:prstGeom>
          <a:solidFill>
            <a:srgbClr val="FFFFFF"/>
          </a:solidFill>
          <a:ln w="11430">
            <a:solidFill>
              <a:srgbClr val="276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5800" y="2133600"/>
            <a:ext cx="32004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276A8F"/>
                </a:solidFill>
                <a:latin typeface="Arial"/>
                <a:ea typeface="Microsoft YaHei"/>
              </a:rPr>
              <a:t>Data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800" y="2457450"/>
            <a:ext cx="32004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语义理解、工具编排与实体链接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76500" y="2847975"/>
            <a:ext cx="0" cy="257175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6000" y="2847975"/>
            <a:ext cx="0" cy="257175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38425" y="2876550"/>
            <a:ext cx="138112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注册 / 资产操作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7925" y="2876550"/>
            <a:ext cx="1381125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元数据工具调用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3133725"/>
            <a:ext cx="7048500" cy="885825"/>
          </a:xfrm>
          <a:prstGeom prst="rect">
            <a:avLst/>
          </a:prstGeom>
          <a:solidFill>
            <a:srgbClr val="FFFFFF"/>
          </a:solidFill>
          <a:ln w="11430">
            <a:solidFill>
              <a:srgbClr val="276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6300" y="3228975"/>
            <a:ext cx="68199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276A8F"/>
                </a:solidFill>
                <a:latin typeface="Arial"/>
                <a:ea typeface="Microsoft YaHei"/>
              </a:rPr>
              <a:t>Extensions API + 注册 SDK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3552825"/>
            <a:ext cx="68199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统一接口、身份编排、元数据建模与读写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86250" y="4038600"/>
            <a:ext cx="0" cy="24765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62000" y="4314825"/>
            <a:ext cx="7048500" cy="819150"/>
          </a:xfrm>
          <a:prstGeom prst="rect">
            <a:avLst/>
          </a:prstGeom>
          <a:solidFill>
            <a:srgbClr val="FFFFFF"/>
          </a:solidFill>
          <a:ln w="11430">
            <a:solidFill>
              <a:srgbClr val="276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6300" y="4410075"/>
            <a:ext cx="68199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276A8F"/>
                </a:solidFill>
                <a:latin typeface="Arial"/>
                <a:ea typeface="Microsoft YaHei"/>
              </a:rPr>
              <a:t>DataHub GMS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4733925"/>
            <a:ext cx="68199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企业认证、角色策略与 Token 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038350"/>
            <a:ext cx="34290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Extensions 重构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381250"/>
            <a:ext cx="3429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拆分网关与 SDK，形成复用接口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828925"/>
            <a:ext cx="34290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GMS 改造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3171825"/>
            <a:ext cx="3429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SSO、访问准入、角色与 Token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619500"/>
            <a:ext cx="34290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frontend 集成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962400"/>
            <a:ext cx="3429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登录、权限与资产操作页面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410075"/>
            <a:ext cx="34290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Data Agent 语义层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752975"/>
            <a:ext cx="3429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语义理解、对话工具与实体跳转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5572125"/>
            <a:ext cx="10668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登录与 GraphQL 也可直接访问 GMS，注册和工具调用经过扩展层</a:t>
            </a:r>
          </a:p>
        </p:txBody>
      </p:sp>
      <p:sp>
        <p:nvSpPr>
          <p:cNvPr id="37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02 / DataInfra 架构重构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拆开扩展服务，让注册能力可以被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多处复用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前端通过 API 使用能力，平台其他模块也可以直接调用 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38350"/>
            <a:ext cx="252412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原来：EntityBuilder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2514600"/>
            <a:ext cx="2524125" cy="14859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5350" y="2638425"/>
            <a:ext cx="22574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72F45"/>
                </a:solidFill>
                <a:latin typeface="Arial"/>
                <a:ea typeface="Microsoft YaHei"/>
              </a:rPr>
              <a:t>建模、查询、发送、API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000375"/>
            <a:ext cx="2257425" cy="962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GraphQL / REST / Kafka
集中在同一模块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191000"/>
            <a:ext cx="2524125" cy="1123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建模和 I/O 混在一起</a:t>
            </a:r>
          </a:p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难以分别测试和复用</a:t>
            </a:r>
          </a:p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身份与权限处理也需要拆清楚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95675" y="3209925"/>
            <a:ext cx="771525" cy="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381500" y="2038350"/>
            <a:ext cx="7048500" cy="876300"/>
          </a:xfrm>
          <a:prstGeom prst="rect">
            <a:avLst/>
          </a:prstGeom>
          <a:solidFill>
            <a:srgbClr val="EDF4F8"/>
          </a:solidFill>
          <a:ln w="9525">
            <a:solidFill>
              <a:srgbClr val="B7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14850" y="2162175"/>
            <a:ext cx="67818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276A8F"/>
                </a:solidFill>
                <a:latin typeface="Arial"/>
                <a:ea typeface="Microsoft YaHei"/>
              </a:rPr>
              <a:t>统一 API 网关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4850" y="2524125"/>
            <a:ext cx="67818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HTTP 入口、鉴权与编排，按配置挂载 register / chat / preview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05750" y="2924175"/>
            <a:ext cx="0" cy="142875"/>
          </a:xfrm>
          <a:prstGeom prst="line">
            <a:avLst/>
          </a:prstGeom>
          <a:ln w="16510">
            <a:solidFill>
              <a:srgbClr val="A4B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6000" y="3067050"/>
            <a:ext cx="3619500" cy="0"/>
          </a:xfrm>
          <a:prstGeom prst="line">
            <a:avLst/>
          </a:prstGeom>
          <a:ln w="16510">
            <a:solidFill>
              <a:srgbClr val="A4B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6000" y="3067050"/>
            <a:ext cx="0" cy="13335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15500" y="3067050"/>
            <a:ext cx="0" cy="13335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381500" y="3219450"/>
            <a:ext cx="3429000" cy="9906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14850" y="3343275"/>
            <a:ext cx="31623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注册 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4850" y="3705225"/>
            <a:ext cx="316230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register / amend / search / get / exists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3219450"/>
            <a:ext cx="3429000" cy="9906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4350" y="3343275"/>
            <a:ext cx="31623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Data Agent / 记录预览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4350" y="3705225"/>
            <a:ext cx="316230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对话 SDK 与 Preview SDK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1500" y="4438650"/>
            <a:ext cx="70485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注册 SDK 内部：纯计算与 I/O 分离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500" y="4876800"/>
            <a:ext cx="7048500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实体层负责 URN / Aspect / 变更事件构建
服务层编排校验，数据访问与发布层处理 I/O</a:t>
            </a:r>
          </a:p>
        </p:txBody>
      </p:sp>
      <p:sp>
        <p:nvSpPr>
          <p:cNvPr id="31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02 / 企业身份与权限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接入企业 SSO 后，还要把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身份和权限</a:t>
            </a: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接通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登录成功只是第一步，后续每次访问仍要带上身份并完成权限校验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2038350"/>
            <a:ext cx="3429000" cy="1209675"/>
          </a:xfrm>
          <a:prstGeom prst="rect">
            <a:avLst/>
          </a:prstGeom>
          <a:solidFill>
            <a:srgbClr val="EDF4F8"/>
          </a:solidFill>
          <a:ln w="9525">
            <a:solidFill>
              <a:srgbClr val="B7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5350" y="2162175"/>
            <a:ext cx="31623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6A8F"/>
                </a:solidFill>
                <a:latin typeface="Arial"/>
                <a:ea typeface="Microsoft YaHei"/>
              </a:rPr>
              <a:t>IDaaS 认证接入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524125"/>
            <a:ext cx="31623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认证器与 SSO 回调
账号创建和身份映射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1500" y="2038350"/>
            <a:ext cx="3429000" cy="1209675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4850" y="2162175"/>
            <a:ext cx="31623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访问准入与审计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4850" y="2524125"/>
            <a:ext cx="31623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工号 / 部门白名单
运行时管理与登录记录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038350"/>
            <a:ext cx="3429000" cy="1209675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4350" y="2162175"/>
            <a:ext cx="31623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角色与 Token 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4350" y="2524125"/>
            <a:ext cx="31623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Publisher 角色及策略
Token Aspect 与 GraphQL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514725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一个接入难点：GMS 和 Play frontend 不共享会话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4048125"/>
            <a:ext cx="3429000" cy="10287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5350" y="4171950"/>
            <a:ext cx="31623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GMS / Jetty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350" y="4533900"/>
            <a:ext cx="3162300" cy="504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完成 SSO 握手及准入校验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1500" y="4048125"/>
            <a:ext cx="3429000" cy="10287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14850" y="4171950"/>
            <a:ext cx="31623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Play frontend / Netty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4850" y="4533900"/>
            <a:ext cx="3162300" cy="504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建立平台登录会话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4048125"/>
            <a:ext cx="3429000" cy="10287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4350" y="4171950"/>
            <a:ext cx="31623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React 门户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4350" y="4533900"/>
            <a:ext cx="3162300" cy="504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使用登录态访问平台能力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38625" y="4552950"/>
            <a:ext cx="123825" cy="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58125" y="4552950"/>
            <a:ext cx="123825" cy="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02 / DataHub 门户集成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后台能力做好后，还要让用户能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直接使用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页面给出操作入口，凭证随请求传递，最终由服务端判断能不能执行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38350"/>
            <a:ext cx="4333875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Play frontend：接好登录态和凭证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571750"/>
            <a:ext cx="4333875" cy="1343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SSO 回调与平台会话建立
NeverTokenManager 自动发放凭证
按登录态获取 Token，衔接 API 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0" y="2038350"/>
            <a:ext cx="523875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React：提供用户能操作的页面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0" y="2571750"/>
            <a:ext cx="5238750" cy="1343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白名单 / 部门授权管理及表格导入
注册 YAML、记录预览、角色选择
Token 管理、配额页与 Data Agent 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4076700"/>
            <a:ext cx="10668000" cy="9525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2000" y="4391025"/>
            <a:ext cx="2524125" cy="97155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5350" y="4514850"/>
            <a:ext cx="22574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获取用户身份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4876800"/>
            <a:ext cx="2257425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登录态及用户 Token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05175" y="4876800"/>
            <a:ext cx="142875" cy="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476625" y="4391025"/>
            <a:ext cx="2524125" cy="97155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09975" y="4514850"/>
            <a:ext cx="22574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展示可用操作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9975" y="4876800"/>
            <a:ext cx="2257425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按权限显示注册入口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19800" y="4876800"/>
            <a:ext cx="142875" cy="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191250" y="4391025"/>
            <a:ext cx="2524125" cy="971550"/>
          </a:xfrm>
          <a:prstGeom prst="rect">
            <a:avLst/>
          </a:prstGeom>
          <a:solidFill>
            <a:srgbClr val="EDF4F8"/>
          </a:solidFill>
          <a:ln w="9525">
            <a:solidFill>
              <a:srgbClr val="B7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4600" y="4514850"/>
            <a:ext cx="22574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76A8F"/>
                </a:solidFill>
                <a:latin typeface="Arial"/>
                <a:ea typeface="Microsoft YaHei"/>
              </a:rPr>
              <a:t>带凭证调用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600" y="4876800"/>
            <a:ext cx="2257425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useAuthedFetch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34425" y="4876800"/>
            <a:ext cx="142875" cy="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905875" y="4391025"/>
            <a:ext cx="2524125" cy="97155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39225" y="4514850"/>
            <a:ext cx="22574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服务端判权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9225" y="4876800"/>
            <a:ext cx="2257425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API / SDK 校验写操作</a:t>
            </a:r>
          </a:p>
        </p:txBody>
      </p:sp>
      <p:sp>
        <p:nvSpPr>
          <p:cNvPr id="30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02 / Data Agent 语义层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Data Agent 把用户问题映射到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具体资产与操作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23</a:t>
            </a:r>
          </a:p>
        </p:txBody>
      </p:sp>
      <p:sp>
        <p:nvSpPr>
          <p:cNvPr id="101" name="Editable 101"/>
          <p:cNvSpPr txBox="1"/>
          <p:nvPr/>
        </p:nvSpPr>
        <p:spPr>
          <a:xfrm>
            <a:off x="762000" y="15621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语义层说明数据是什么、彼此怎样关联，以及可以怎样使用</a:t>
            </a:r>
          </a:p>
        </p:txBody>
      </p:sp>
      <p:sp>
        <p:nvSpPr>
          <p:cNvPr id="102" name="Editable 102"/>
          <p:cNvSpPr txBox="1"/>
          <p:nvPr/>
        </p:nvSpPr>
        <p:spPr>
          <a:xfrm>
            <a:off x="762000" y="2133600"/>
            <a:ext cx="1066800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问题示例：这个数据集从哪里来？包含哪些字段？</a:t>
            </a:r>
          </a:p>
        </p:txBody>
      </p:sp>
      <p:sp>
        <p:nvSpPr>
          <p:cNvPr id="103" name="Diagram box 103"/>
          <p:cNvSpPr/>
          <p:nvPr/>
        </p:nvSpPr>
        <p:spPr>
          <a:xfrm>
            <a:off x="762000" y="2752725"/>
            <a:ext cx="2524125" cy="11430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</p:sp>
      <p:sp>
        <p:nvSpPr>
          <p:cNvPr id="104" name="Editable 104"/>
          <p:cNvSpPr txBox="1"/>
          <p:nvPr/>
        </p:nvSpPr>
        <p:spPr>
          <a:xfrm>
            <a:off x="876300" y="2914650"/>
            <a:ext cx="22955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理解意图</a:t>
            </a:r>
          </a:p>
        </p:txBody>
      </p:sp>
      <p:sp>
        <p:nvSpPr>
          <p:cNvPr id="105" name="Editable 105"/>
          <p:cNvSpPr txBox="1"/>
          <p:nvPr/>
        </p:nvSpPr>
        <p:spPr>
          <a:xfrm>
            <a:off x="857250" y="3409950"/>
            <a:ext cx="2333625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识别问题中的对象与意图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结合当前会话上下文</a:t>
            </a:r>
          </a:p>
        </p:txBody>
      </p:sp>
      <p:cxnSp>
        <p:nvCxnSpPr>
          <p:cNvPr id="106" name="Diagram connector 106"/>
          <p:cNvCxnSpPr/>
          <p:nvPr/>
        </p:nvCxnSpPr>
        <p:spPr>
          <a:xfrm>
            <a:off x="3314700" y="3324225"/>
            <a:ext cx="123825" cy="0"/>
          </a:xfrm>
          <a:prstGeom prst="line">
            <a:avLst/>
          </a:prstGeom>
          <a:ln w="14288">
            <a:solidFill>
              <a:srgbClr val="A4B3BF"/>
            </a:solidFill>
            <a:tailEnd type="triangle" w="sm" len="sm"/>
          </a:ln>
        </p:spPr>
      </p:cxnSp>
      <p:sp>
        <p:nvSpPr>
          <p:cNvPr id="107" name="Diagram box 107"/>
          <p:cNvSpPr/>
          <p:nvPr/>
        </p:nvSpPr>
        <p:spPr>
          <a:xfrm>
            <a:off x="3476625" y="2752725"/>
            <a:ext cx="2524125" cy="11430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</p:sp>
      <p:sp>
        <p:nvSpPr>
          <p:cNvPr id="108" name="Editable 108"/>
          <p:cNvSpPr txBox="1"/>
          <p:nvPr/>
        </p:nvSpPr>
        <p:spPr>
          <a:xfrm>
            <a:off x="3590925" y="2914650"/>
            <a:ext cx="22955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定位实体</a:t>
            </a:r>
          </a:p>
        </p:txBody>
      </p:sp>
      <p:sp>
        <p:nvSpPr>
          <p:cNvPr id="109" name="Editable 109"/>
          <p:cNvSpPr txBox="1"/>
          <p:nvPr/>
        </p:nvSpPr>
        <p:spPr>
          <a:xfrm>
            <a:off x="3571875" y="3409950"/>
            <a:ext cx="2333625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按关键词、条件或存储路径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找到真实实体与 URN</a:t>
            </a:r>
          </a:p>
        </p:txBody>
      </p:sp>
      <p:cxnSp>
        <p:nvCxnSpPr>
          <p:cNvPr id="110" name="Diagram connector 110"/>
          <p:cNvCxnSpPr/>
          <p:nvPr/>
        </p:nvCxnSpPr>
        <p:spPr>
          <a:xfrm>
            <a:off x="6029325" y="3324225"/>
            <a:ext cx="123825" cy="0"/>
          </a:xfrm>
          <a:prstGeom prst="line">
            <a:avLst/>
          </a:prstGeom>
          <a:ln w="14288">
            <a:solidFill>
              <a:srgbClr val="A4B3BF"/>
            </a:solidFill>
            <a:tailEnd type="triangle" w="sm" len="sm"/>
          </a:ln>
        </p:spPr>
      </p:cxnSp>
      <p:sp>
        <p:nvSpPr>
          <p:cNvPr id="111" name="Diagram box 111"/>
          <p:cNvSpPr/>
          <p:nvPr/>
        </p:nvSpPr>
        <p:spPr>
          <a:xfrm>
            <a:off x="6191250" y="2752725"/>
            <a:ext cx="2524125" cy="1143000"/>
          </a:xfrm>
          <a:prstGeom prst="rect">
            <a:avLst/>
          </a:prstGeom>
          <a:solidFill>
            <a:srgbClr val="EDF4F8"/>
          </a:solidFill>
          <a:ln w="9525">
            <a:solidFill>
              <a:srgbClr val="276A8F"/>
            </a:solidFill>
          </a:ln>
          <a:effectLst/>
        </p:spPr>
      </p:sp>
      <p:sp>
        <p:nvSpPr>
          <p:cNvPr id="112" name="Editable 112"/>
          <p:cNvSpPr txBox="1"/>
          <p:nvPr/>
        </p:nvSpPr>
        <p:spPr>
          <a:xfrm>
            <a:off x="6305550" y="2914650"/>
            <a:ext cx="22955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76A8F"/>
                </a:solidFill>
                <a:latin typeface="Arial"/>
                <a:ea typeface="Microsoft YaHei"/>
              </a:rPr>
              <a:t>调用元数据工具</a:t>
            </a:r>
          </a:p>
        </p:txBody>
      </p:sp>
      <p:sp>
        <p:nvSpPr>
          <p:cNvPr id="113" name="Editable 113"/>
          <p:cNvSpPr txBox="1"/>
          <p:nvPr/>
        </p:nvSpPr>
        <p:spPr>
          <a:xfrm>
            <a:off x="6286500" y="3409950"/>
            <a:ext cx="2333625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查询 Schema、血缘和画像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或按模板注册元数据</a:t>
            </a:r>
          </a:p>
        </p:txBody>
      </p:sp>
      <p:cxnSp>
        <p:nvCxnSpPr>
          <p:cNvPr id="114" name="Diagram connector 114"/>
          <p:cNvCxnSpPr/>
          <p:nvPr/>
        </p:nvCxnSpPr>
        <p:spPr>
          <a:xfrm>
            <a:off x="8743950" y="3324225"/>
            <a:ext cx="123825" cy="0"/>
          </a:xfrm>
          <a:prstGeom prst="line">
            <a:avLst/>
          </a:prstGeom>
          <a:ln w="14288">
            <a:solidFill>
              <a:srgbClr val="A4B3BF"/>
            </a:solidFill>
            <a:tailEnd type="triangle" w="sm" len="sm"/>
          </a:ln>
        </p:spPr>
      </p:cxnSp>
      <p:sp>
        <p:nvSpPr>
          <p:cNvPr id="115" name="Diagram box 115"/>
          <p:cNvSpPr/>
          <p:nvPr/>
        </p:nvSpPr>
        <p:spPr>
          <a:xfrm>
            <a:off x="8905875" y="2752725"/>
            <a:ext cx="2524125" cy="11430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</p:sp>
      <p:sp>
        <p:nvSpPr>
          <p:cNvPr id="116" name="Editable 116"/>
          <p:cNvSpPr txBox="1"/>
          <p:nvPr/>
        </p:nvSpPr>
        <p:spPr>
          <a:xfrm>
            <a:off x="9020175" y="2914650"/>
            <a:ext cx="22955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解释与资产跳转</a:t>
            </a:r>
          </a:p>
        </p:txBody>
      </p:sp>
      <p:sp>
        <p:nvSpPr>
          <p:cNvPr id="117" name="Editable 117"/>
          <p:cNvSpPr txBox="1"/>
          <p:nvPr/>
        </p:nvSpPr>
        <p:spPr>
          <a:xfrm>
            <a:off x="9001125" y="3409950"/>
            <a:ext cx="2333625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根据工具返回结果回答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通过链接打开对应资产</a:t>
            </a:r>
          </a:p>
        </p:txBody>
      </p:sp>
      <p:sp>
        <p:nvSpPr>
          <p:cNvPr id="118" name="Diagram box 118"/>
          <p:cNvSpPr/>
          <p:nvPr/>
        </p:nvSpPr>
        <p:spPr>
          <a:xfrm>
            <a:off x="762000" y="4200525"/>
            <a:ext cx="10668000" cy="438150"/>
          </a:xfrm>
          <a:prstGeom prst="rect">
            <a:avLst/>
          </a:prstGeom>
          <a:solidFill>
            <a:srgbClr val="F5F7FA"/>
          </a:solidFill>
          <a:ln w="9525">
            <a:solidFill>
              <a:srgbClr val="F5F7FA"/>
            </a:solidFill>
          </a:ln>
          <a:effectLst/>
        </p:spPr>
      </p:sp>
      <p:sp>
        <p:nvSpPr>
          <p:cNvPr id="119" name="Editable 119"/>
          <p:cNvSpPr txBox="1"/>
          <p:nvPr/>
        </p:nvSpPr>
        <p:spPr>
          <a:xfrm>
            <a:off x="933450" y="4314825"/>
            <a:ext cx="10325100" cy="276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语义上下文：领域与描述、标签与字段、数据血缘，以及注册规则</a:t>
            </a:r>
          </a:p>
        </p:txBody>
      </p:sp>
      <p:sp>
        <p:nvSpPr>
          <p:cNvPr id="120" name="Editable 120"/>
          <p:cNvSpPr txBox="1"/>
          <p:nvPr/>
        </p:nvSpPr>
        <p:spPr>
          <a:xfrm>
            <a:off x="762000" y="4953000"/>
            <a:ext cx="5238750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语义层的架构职责</a:t>
            </a:r>
          </a:p>
        </p:txBody>
      </p:sp>
      <p:sp>
        <p:nvSpPr>
          <p:cNvPr id="121" name="Editable 121"/>
          <p:cNvSpPr txBox="1"/>
          <p:nvPr/>
        </p:nvSpPr>
        <p:spPr>
          <a:xfrm>
            <a:off x="762000" y="5372100"/>
            <a:ext cx="5238750" cy="542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把业务问题对应到数据实体与关系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将查询与注册约束带入工具调用</a:t>
            </a:r>
          </a:p>
        </p:txBody>
      </p:sp>
      <p:sp>
        <p:nvSpPr>
          <p:cNvPr id="122" name="Editable 122"/>
          <p:cNvSpPr txBox="1"/>
          <p:nvPr/>
        </p:nvSpPr>
        <p:spPr>
          <a:xfrm>
            <a:off x="6191250" y="4953000"/>
            <a:ext cx="5238750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支撑这一层的工程实现</a:t>
            </a:r>
          </a:p>
        </p:txBody>
      </p:sp>
      <p:sp>
        <p:nvSpPr>
          <p:cNvPr id="123" name="Editable 123"/>
          <p:cNvSpPr txBox="1"/>
          <p:nvPr/>
        </p:nvSpPr>
        <p:spPr>
          <a:xfrm>
            <a:off x="6191250" y="5372100"/>
            <a:ext cx="5238750" cy="542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多轮对话、工具编排、查询与注册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实体链接、流式展示与回归测试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02 / DataInfra 开发工作量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DataInfra 的 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19 项 PR</a:t>
            </a: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，覆盖平台接入到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工作重点从企业接入、扩展重构，逐步延伸到资产操作和 Data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38350"/>
            <a:ext cx="34290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276A8F"/>
                </a:solidFill>
                <a:latin typeface="Arial"/>
                <a:ea typeface="Microsoft YaHe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705100"/>
            <a:ext cx="3429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我发起并已合入的 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1500" y="2038350"/>
            <a:ext cx="34290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276A8F"/>
                </a:solidFill>
                <a:latin typeface="Arial"/>
                <a:ea typeface="Microsoft YaHei"/>
              </a:rPr>
              <a:t>35,363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1500" y="2705100"/>
            <a:ext cx="3429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累计新增行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038350"/>
            <a:ext cx="34290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4A5968"/>
                </a:solidFill>
                <a:latin typeface="Arial"/>
                <a:ea typeface="Microsoft YaHei"/>
              </a:rPr>
              <a:t>16,255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705100"/>
            <a:ext cx="3429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累计删除行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3152775"/>
            <a:ext cx="10668000" cy="9525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62000" y="3390900"/>
          <a:ext cx="10668000" cy="14001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043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开发内容</a:t>
                      </a:r>
                    </a:p>
                  </a:txBody>
                  <a:tcPr marL="95250" marR="9525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具体工作</a:t>
                      </a:r>
                    </a:p>
                  </a:txBody>
                  <a:tcPr marL="95250" marR="95250" marT="57150" marB="5715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43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企业接入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SSO、访问准入、角色权限和 Token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43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平台与 Agent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Extensions / 注册 SDK、GMS、frontend、Data Agent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4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实现与重构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注册逻辑拆分、SDK 复用、前后端接口衔接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62000" y="4981575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2026.05—2026.09 · 代码变更含源码、测试、配置和文档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857375"/>
            <a:ext cx="1619250" cy="1000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600" b="1" i="0">
                <a:solidFill>
                  <a:srgbClr val="276A8F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71750" y="1971675"/>
            <a:ext cx="885825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0" i="0">
                <a:solidFill>
                  <a:srgbClr val="172F45"/>
                </a:solidFill>
                <a:latin typeface="Arial"/>
                <a:ea typeface="Microsoft YaHei"/>
              </a:rPr>
              <a:t>Omni-ELB：LiteLLM 网关</a:t>
            </a:r>
          </a:p>
        </p:txBody>
      </p:sp>
      <p:sp>
        <p:nvSpPr>
          <p:cNvPr id="4" name="Rectangle 3"/>
          <p:cNvSpPr/>
          <p:nvPr/>
        </p:nvSpPr>
        <p:spPr>
          <a:xfrm>
            <a:off x="2571750" y="2952750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71750" y="3295650"/>
            <a:ext cx="7953375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500" b="0" i="0">
                <a:solidFill>
                  <a:srgbClr val="4A5968"/>
                </a:solidFill>
                <a:latin typeface="Arial"/>
                <a:ea typeface="Microsoft YaHei"/>
              </a:rPr>
              <a:t>请求进入网关后，需要结合会话和负载，选择合适的模型集群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25</a:t>
            </a:r>
          </a:p>
        </p:txBody>
      </p:sp>
      <p:sp>
        <p:nvSpPr>
          <p:cNvPr id="18" name="Editable 18"/>
          <p:cNvSpPr txBox="1"/>
          <p:nvPr/>
        </p:nvSpPr>
        <p:spPr>
          <a:xfrm>
            <a:off x="2571750" y="4191000"/>
            <a:ext cx="88582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748391"/>
                </a:solidFill>
                <a:latin typeface="Arial"/>
                <a:ea typeface="Microsoft YaHei"/>
              </a:rPr>
              <a:t>项目仓库</a:t>
            </a:r>
          </a:p>
        </p:txBody>
      </p:sp>
      <p:sp>
        <p:nvSpPr>
          <p:cNvPr id="19" name="Editable 19"/>
          <p:cNvSpPr txBox="1"/>
          <p:nvPr/>
        </p:nvSpPr>
        <p:spPr>
          <a:xfrm>
            <a:off x="2571750" y="4552950"/>
            <a:ext cx="885825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sng">
                <a:solidFill>
                  <a:srgbClr val="276A8F"/>
                </a:solidFill>
                <a:latin typeface="Arial"/>
                <a:ea typeface="Microsoft YaHei"/>
                <a:hlinkClick r:id="rId4" tooltip="项目仓库：Omni-ELB / LiteLLM 网关"/>
              </a:rPr>
              <a:t>https://gitee.com/omniai/omni-elb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03 / 网关整体流程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一次推理请求，怎样经过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网关</a:t>
            </a: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到达模型集群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网关把业务请求接进来，再决定交给哪个模型集群处理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38350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业务请求主链路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2495550"/>
            <a:ext cx="1619250" cy="1143000"/>
          </a:xfrm>
          <a:prstGeom prst="rect">
            <a:avLst/>
          </a:prstGeom>
          <a:solidFill>
            <a:srgbClr val="F5F7FA"/>
          </a:solidFill>
          <a:ln w="11430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6300" y="2590800"/>
            <a:ext cx="13906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业务 /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914650"/>
            <a:ext cx="1390650" cy="704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模型名与请求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2495550"/>
            <a:ext cx="1619250" cy="1143000"/>
          </a:xfrm>
          <a:prstGeom prst="rect">
            <a:avLst/>
          </a:prstGeom>
          <a:solidFill>
            <a:srgbClr val="F5F7FA"/>
          </a:solidFill>
          <a:ln w="11430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76550" y="2590800"/>
            <a:ext cx="13906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NGINX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6550" y="2914650"/>
            <a:ext cx="1390650" cy="704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入口转发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86375" y="2495550"/>
            <a:ext cx="3429000" cy="114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276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00675" y="2590800"/>
            <a:ext cx="32004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276A8F"/>
                </a:solidFill>
                <a:latin typeface="Arial"/>
                <a:ea typeface="Microsoft YaHei"/>
              </a:rPr>
              <a:t>LiteLLM 网关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675" y="2914650"/>
            <a:ext cx="3200400" cy="704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协议、Key / 配额、健康候选
请求路由、转发与指标回调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5875" y="2495550"/>
            <a:ext cx="2524125" cy="1143000"/>
          </a:xfrm>
          <a:prstGeom prst="rect">
            <a:avLst/>
          </a:prstGeom>
          <a:solidFill>
            <a:srgbClr val="F5F7FA"/>
          </a:solidFill>
          <a:ln w="11430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20175" y="2590800"/>
            <a:ext cx="2295525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模型服务集群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0175" y="2914650"/>
            <a:ext cx="2295525" cy="704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集群 A / B / …
集群内部执行 Prefill / Decode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9825" y="3067050"/>
            <a:ext cx="323850" cy="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10075" y="3067050"/>
            <a:ext cx="847725" cy="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43950" y="3067050"/>
            <a:ext cx="133350" cy="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2000" y="4000500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共享状态、可观测与实例管理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4524375"/>
            <a:ext cx="2524125" cy="904875"/>
          </a:xfrm>
          <a:prstGeom prst="rect">
            <a:avLst/>
          </a:prstGeom>
          <a:solidFill>
            <a:srgbClr val="F5F7FA"/>
          </a:solidFill>
          <a:ln w="11430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6300" y="4619625"/>
            <a:ext cx="2295525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PostgreSQL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300" y="4943475"/>
            <a:ext cx="2295525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模型 / Key 等管理元数据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6625" y="4524375"/>
            <a:ext cx="2524125" cy="904875"/>
          </a:xfrm>
          <a:prstGeom prst="rect">
            <a:avLst/>
          </a:prstGeom>
          <a:solidFill>
            <a:srgbClr val="F5F7FA"/>
          </a:solidFill>
          <a:ln w="11430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90925" y="4619625"/>
            <a:ext cx="2295525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Redis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0925" y="4943475"/>
            <a:ext cx="2295525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负载、会话映射与计数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1250" y="4524375"/>
            <a:ext cx="2524125" cy="904875"/>
          </a:xfrm>
          <a:prstGeom prst="rect">
            <a:avLst/>
          </a:prstGeom>
          <a:solidFill>
            <a:srgbClr val="F5F7FA"/>
          </a:solidFill>
          <a:ln w="11430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5550" y="4619625"/>
            <a:ext cx="2295525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Prometheus / Grafana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5550" y="4943475"/>
            <a:ext cx="2295525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网关指标与后端负载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05875" y="4524375"/>
            <a:ext cx="2524125" cy="904875"/>
          </a:xfrm>
          <a:prstGeom prst="rect">
            <a:avLst/>
          </a:prstGeom>
          <a:solidFill>
            <a:srgbClr val="F5F7FA"/>
          </a:solidFill>
          <a:ln w="11430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20175" y="4619625"/>
            <a:ext cx="2295525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Autoscaler / Provider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0175" y="4943475"/>
            <a:ext cx="2295525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实例生命周期与模型注册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000875" y="3648075"/>
            <a:ext cx="0" cy="209550"/>
          </a:xfrm>
          <a:prstGeom prst="line">
            <a:avLst/>
          </a:prstGeom>
          <a:ln w="16510">
            <a:solidFill>
              <a:srgbClr val="A4B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019300" y="4362450"/>
            <a:ext cx="5429250" cy="0"/>
          </a:xfrm>
          <a:prstGeom prst="line">
            <a:avLst/>
          </a:prstGeom>
          <a:ln w="16510">
            <a:solidFill>
              <a:srgbClr val="A4B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000875" y="3857625"/>
            <a:ext cx="0" cy="504825"/>
          </a:xfrm>
          <a:prstGeom prst="line">
            <a:avLst/>
          </a:prstGeom>
          <a:ln w="16510">
            <a:solidFill>
              <a:srgbClr val="A4B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019300" y="4362450"/>
            <a:ext cx="0" cy="142875"/>
          </a:xfrm>
          <a:prstGeom prst="line">
            <a:avLst/>
          </a:prstGeom>
          <a:ln w="16510">
            <a:solidFill>
              <a:srgbClr val="A4B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733925" y="4362450"/>
            <a:ext cx="0" cy="142875"/>
          </a:xfrm>
          <a:prstGeom prst="line">
            <a:avLst/>
          </a:prstGeom>
          <a:ln w="16510">
            <a:solidFill>
              <a:srgbClr val="A4B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48550" y="4362450"/>
            <a:ext cx="0" cy="142875"/>
          </a:xfrm>
          <a:prstGeom prst="line">
            <a:avLst/>
          </a:prstGeom>
          <a:ln w="16510">
            <a:solidFill>
              <a:srgbClr val="A4B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163175" y="3657600"/>
            <a:ext cx="0" cy="85725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03 / 请求路由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可用集群不止一个，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路由</a:t>
            </a: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还要做一次选择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路由同时看请求身份、会话记录和当前负载，再决定请求发往哪里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2038350"/>
            <a:ext cx="2524125" cy="1057275"/>
          </a:xfrm>
          <a:prstGeom prst="rect">
            <a:avLst/>
          </a:prstGeom>
          <a:solidFill>
            <a:srgbClr val="F5F7FA"/>
          </a:solidFill>
          <a:ln w="11430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6300" y="2133600"/>
            <a:ext cx="2295525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接入与准入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457450"/>
            <a:ext cx="2295525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模型、Key、配额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05175" y="2571750"/>
            <a:ext cx="152400" cy="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76625" y="2038350"/>
            <a:ext cx="2524125" cy="1057275"/>
          </a:xfrm>
          <a:prstGeom prst="rect">
            <a:avLst/>
          </a:prstGeom>
          <a:solidFill>
            <a:srgbClr val="F5F7FA"/>
          </a:solidFill>
          <a:ln w="11430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0925" y="2133600"/>
            <a:ext cx="2295525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健康候选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0925" y="2457450"/>
            <a:ext cx="2295525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可用性与冷却过滤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19800" y="2571750"/>
            <a:ext cx="152400" cy="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191250" y="2038350"/>
            <a:ext cx="2524125" cy="1057275"/>
          </a:xfrm>
          <a:prstGeom prst="rect">
            <a:avLst/>
          </a:prstGeom>
          <a:solidFill>
            <a:srgbClr val="FFFFFF"/>
          </a:solidFill>
          <a:ln w="11430">
            <a:solidFill>
              <a:srgbClr val="276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5550" y="2133600"/>
            <a:ext cx="2295525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276A8F"/>
                </a:solidFill>
                <a:latin typeface="Arial"/>
                <a:ea typeface="Microsoft YaHei"/>
              </a:rPr>
              <a:t>请求路由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5550" y="2457450"/>
            <a:ext cx="2295525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会话亲和与负载选择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34425" y="2571750"/>
            <a:ext cx="152400" cy="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905875" y="2038350"/>
            <a:ext cx="2524125" cy="1057275"/>
          </a:xfrm>
          <a:prstGeom prst="rect">
            <a:avLst/>
          </a:prstGeom>
          <a:solidFill>
            <a:srgbClr val="F5F7FA"/>
          </a:solidFill>
          <a:ln w="11430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20175" y="2133600"/>
            <a:ext cx="2295525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转发与回调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0175" y="2457450"/>
            <a:ext cx="2295525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响应返回、指标记录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476625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选集群时，先看身份和状态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4076700"/>
            <a:ext cx="3429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这个请求来自谁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4552950"/>
            <a:ext cx="3429000" cy="647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user_id / PipelineKey / APIKeyHash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1500" y="4076700"/>
            <a:ext cx="3429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当前有哪些状态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1500" y="4552950"/>
            <a:ext cx="3429000" cy="647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Redis 会话映射与集群 inflight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076700"/>
            <a:ext cx="3429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最后发到哪里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552950"/>
            <a:ext cx="3429000" cy="647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保留健康会话，或选择新的目标集群</a:t>
            </a:r>
          </a:p>
        </p:txBody>
      </p:sp>
      <p:sp>
        <p:nvSpPr>
          <p:cNvPr id="33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03 / 会话与负载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老会话尽量不搬，新会话优先选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低负载集群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优先保持健康会话的稳定，新会话再根据当前负载分散到不同集群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38350"/>
            <a:ext cx="2524125" cy="2952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负载状态链路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2466975"/>
            <a:ext cx="2524125" cy="89535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5350" y="2590800"/>
            <a:ext cx="22574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72F45"/>
                </a:solidFill>
                <a:latin typeface="Arial"/>
                <a:ea typeface="Microsoft YaHei"/>
              </a:rPr>
              <a:t>P 侧运行与等待请求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2952750"/>
            <a:ext cx="2257425" cy="3714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Prometheus / Grafana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19300" y="3381375"/>
            <a:ext cx="0" cy="19050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62000" y="3609975"/>
            <a:ext cx="2524125" cy="89535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5350" y="3733800"/>
            <a:ext cx="22574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72F45"/>
                </a:solidFill>
                <a:latin typeface="Arial"/>
                <a:ea typeface="Microsoft YaHei"/>
              </a:rPr>
              <a:t>独立刷新脚本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4095750"/>
            <a:ext cx="2257425" cy="3714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聚合集群负载并写入 Redis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9300" y="4514850"/>
            <a:ext cx="0" cy="19050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62000" y="4743450"/>
            <a:ext cx="2524125" cy="666750"/>
          </a:xfrm>
          <a:prstGeom prst="rect">
            <a:avLst/>
          </a:prstGeom>
          <a:solidFill>
            <a:srgbClr val="EDF4F8"/>
          </a:solidFill>
          <a:ln w="9525">
            <a:solidFill>
              <a:srgbClr val="B7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5350" y="4867275"/>
            <a:ext cx="22574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276A8F"/>
                </a:solidFill>
                <a:latin typeface="Arial"/>
                <a:ea typeface="Microsoft YaHei"/>
              </a:rPr>
              <a:t>Redis 状态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05175" y="5076825"/>
            <a:ext cx="914400" cy="0"/>
          </a:xfrm>
          <a:prstGeom prst="line">
            <a:avLst/>
          </a:prstGeom>
          <a:ln w="16510">
            <a:solidFill>
              <a:srgbClr val="A4B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219575" y="3409950"/>
            <a:ext cx="0" cy="1666875"/>
          </a:xfrm>
          <a:prstGeom prst="line">
            <a:avLst/>
          </a:prstGeom>
          <a:ln w="16510">
            <a:solidFill>
              <a:srgbClr val="A4B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19575" y="3409950"/>
            <a:ext cx="142875" cy="0"/>
          </a:xfrm>
          <a:prstGeom prst="line">
            <a:avLst/>
          </a:prstGeom>
          <a:ln w="16510">
            <a:solidFill>
              <a:srgbClr val="A4B3B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86150" y="4772025"/>
            <a:ext cx="59055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48391"/>
                </a:solidFill>
                <a:latin typeface="Arial"/>
                <a:ea typeface="Microsoft YaHei"/>
              </a:rPr>
              <a:t>读状态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1500" y="2038350"/>
            <a:ext cx="7048500" cy="2952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不同请求，使用不同的选择规则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381500" y="2476500"/>
          <a:ext cx="7048500" cy="2495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887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请求类型</a:t>
                      </a:r>
                    </a:p>
                  </a:txBody>
                  <a:tcPr marL="95250" marR="9525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选择规则</a:t>
                      </a:r>
                    </a:p>
                  </a:txBody>
                  <a:tcPr marL="95250" marR="95250" marT="57150" marB="5715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87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user_id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缓存命中且集群健康：复用会话集群
否则在最低负载 10% 候选中随机选取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87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PipelineKey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返回健康候选，由 LiteLLM 默认策略选择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8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APIKeyHash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按稳定哈希选择集群，作为兼容路径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381500" y="5172075"/>
            <a:ext cx="70485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无可用负载时按哈希兜底；选定后缓存会话映射</a:t>
            </a:r>
          </a:p>
        </p:txBody>
      </p:sp>
      <p:sp>
        <p:nvSpPr>
          <p:cNvPr id="28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03 / 状态刷新与计数修复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路由要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看准负载</a:t>
            </a: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，状态刷新和计数就要准确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刷新链路负责把状态送过来，计数修复保证这个状态反映真实请求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38350"/>
            <a:ext cx="6143625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Redis 刷新：把配置和状态接起来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62000" y="2571750"/>
          <a:ext cx="6143625" cy="23145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91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遇到的问题</a:t>
                      </a:r>
                    </a:p>
                  </a:txBody>
                  <a:tcPr marL="95250" marR="9525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处理方式</a:t>
                      </a:r>
                    </a:p>
                  </a:txBody>
                  <a:tcPr marL="95250" marR="95250" marT="57150" marB="5715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多份脚本分散维护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整合为独立生成脚本和运行入口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模型配置依赖手工维护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从 /model/info 读取模型与集群映射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集群名变化后难以定位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对照配置与监控，提示缺失或疑似改名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配置接口可能不可用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保留原有配置作为回退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001000" y="2038350"/>
            <a:ext cx="3429000" cy="552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Prometheus：修复请求重复统计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800350"/>
            <a:ext cx="3429000" cy="1638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PipelineKey 请求出现重复计数</a:t>
            </a:r>
          </a:p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调整日志过滤和计数路径</a:t>
            </a:r>
          </a:p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修正监控中这一路径的数据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成果汇总 / 研究成果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项目信息与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成果展示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31</a:t>
            </a:r>
          </a:p>
        </p:txBody>
      </p:sp>
      <p:sp>
        <p:nvSpPr>
          <p:cNvPr id="101" name="Editable 101"/>
          <p:cNvSpPr txBox="1"/>
          <p:nvPr/>
        </p:nvSpPr>
        <p:spPr>
          <a:xfrm>
            <a:off x="762000" y="1562100"/>
            <a:ext cx="10668000" cy="2952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OmniPlacement 已随 OmniInfer 开源，相关能力在 Omni-EPLB 中持续演进</a:t>
            </a:r>
          </a:p>
        </p:txBody>
      </p:sp>
      <p:sp>
        <p:nvSpPr>
          <p:cNvPr id="102" name="Editable 102"/>
          <p:cNvSpPr txBox="1"/>
          <p:nvPr/>
        </p:nvSpPr>
        <p:spPr>
          <a:xfrm>
            <a:off x="762000" y="2076450"/>
            <a:ext cx="5238750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72F45"/>
                </a:solidFill>
                <a:latin typeface="Arial"/>
                <a:ea typeface="Microsoft YaHei"/>
              </a:rPr>
              <a:t>技术报告</a:t>
            </a:r>
          </a:p>
        </p:txBody>
      </p:sp>
      <p:sp>
        <p:nvSpPr>
          <p:cNvPr id="103" name="Editable 103"/>
          <p:cNvSpPr txBox="1"/>
          <p:nvPr/>
        </p:nvSpPr>
        <p:spPr>
          <a:xfrm>
            <a:off x="762000" y="2476500"/>
            <a:ext cx="523875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276A8F"/>
                </a:solidFill>
                <a:latin typeface="Arial"/>
                <a:ea typeface="Microsoft YaHei"/>
              </a:rPr>
              <a:t>OmniPlacement</a:t>
            </a:r>
          </a:p>
        </p:txBody>
      </p:sp>
      <p:sp>
        <p:nvSpPr>
          <p:cNvPr id="104" name="Editable 104"/>
          <p:cNvSpPr txBox="1"/>
          <p:nvPr/>
        </p:nvSpPr>
        <p:spPr>
          <a:xfrm>
            <a:off x="762000" y="3048000"/>
            <a:ext cx="523875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>
                <a:solidFill>
                  <a:srgbClr val="172F45"/>
                </a:solidFill>
                <a:latin typeface="Arial"/>
                <a:ea typeface="Microsoft YaHei"/>
              </a:rPr>
              <a:t>昇腾超大规模 MoE 模型推理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>
                <a:solidFill>
                  <a:srgbClr val="172F45"/>
                </a:solidFill>
                <a:latin typeface="Arial"/>
                <a:ea typeface="Microsoft YaHei"/>
              </a:rPr>
              <a:t>负载均衡技术报告</a:t>
            </a:r>
          </a:p>
        </p:txBody>
      </p:sp>
      <p:sp>
        <p:nvSpPr>
          <p:cNvPr id="105" name="Editable 105"/>
          <p:cNvSpPr txBox="1"/>
          <p:nvPr/>
        </p:nvSpPr>
        <p:spPr>
          <a:xfrm>
            <a:off x="762000" y="3924300"/>
            <a:ext cx="5238750" cy="485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昇腾超大规模 MoE 模型推理部署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技术开源周发布</a:t>
            </a:r>
          </a:p>
        </p:txBody>
      </p:sp>
      <p:sp>
        <p:nvSpPr>
          <p:cNvPr id="106" name="Editable 106"/>
          <p:cNvSpPr txBox="1"/>
          <p:nvPr/>
        </p:nvSpPr>
        <p:spPr>
          <a:xfrm>
            <a:off x="6191250" y="2076450"/>
            <a:ext cx="5238750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72F45"/>
                </a:solidFill>
                <a:latin typeface="Arial"/>
                <a:ea typeface="Microsoft YaHei"/>
              </a:rPr>
              <a:t>论文 / SESAME’26 @ EuroSys</a:t>
            </a:r>
          </a:p>
        </p:txBody>
      </p:sp>
      <p:sp>
        <p:nvSpPr>
          <p:cNvPr id="107" name="Editable 107"/>
          <p:cNvSpPr txBox="1"/>
          <p:nvPr/>
        </p:nvSpPr>
        <p:spPr>
          <a:xfrm>
            <a:off x="6191250" y="2476500"/>
            <a:ext cx="523875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276A8F"/>
                </a:solidFill>
                <a:latin typeface="Arial"/>
                <a:ea typeface="Microsoft YaHei"/>
              </a:rPr>
              <a:t>OmniInfer</a:t>
            </a:r>
          </a:p>
        </p:txBody>
      </p:sp>
      <p:sp>
        <p:nvSpPr>
          <p:cNvPr id="108" name="Editable 108"/>
          <p:cNvSpPr txBox="1"/>
          <p:nvPr/>
        </p:nvSpPr>
        <p:spPr>
          <a:xfrm>
            <a:off x="6191250" y="3048000"/>
            <a:ext cx="523875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>
                <a:solidFill>
                  <a:srgbClr val="172F45"/>
                </a:solidFill>
                <a:latin typeface="Arial"/>
                <a:ea typeface="Microsoft YaHei"/>
              </a:rPr>
              <a:t>System-Wide Acceleration Techniques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>
                <a:solidFill>
                  <a:srgbClr val="172F45"/>
                </a:solidFill>
                <a:latin typeface="Arial"/>
                <a:ea typeface="Microsoft YaHei"/>
              </a:rPr>
              <a:t>for Optimizing LLM Serving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>
                <a:solidFill>
                  <a:srgbClr val="172F45"/>
                </a:solidFill>
                <a:latin typeface="Arial"/>
                <a:ea typeface="Microsoft YaHei"/>
              </a:rPr>
              <a:t>Throughput and Latency</a:t>
            </a:r>
          </a:p>
        </p:txBody>
      </p:sp>
      <p:sp>
        <p:nvSpPr>
          <p:cNvPr id="110" name="Separator 110"/>
          <p:cNvSpPr/>
          <p:nvPr/>
        </p:nvSpPr>
        <p:spPr>
          <a:xfrm>
            <a:off x="762000" y="4629150"/>
            <a:ext cx="10668000" cy="9525"/>
          </a:xfrm>
          <a:prstGeom prst="rect">
            <a:avLst/>
          </a:prstGeom>
          <a:solidFill>
            <a:srgbClr val="D7E0E7"/>
          </a:solidFill>
          <a:ln>
            <a:noFill/>
          </a:ln>
        </p:spPr>
      </p:sp>
      <p:sp>
        <p:nvSpPr>
          <p:cNvPr id="111" name="Editable 111"/>
          <p:cNvSpPr txBox="1"/>
          <p:nvPr/>
        </p:nvSpPr>
        <p:spPr>
          <a:xfrm>
            <a:off x="762000" y="4829175"/>
            <a:ext cx="51435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>
                <a:solidFill>
                  <a:srgbClr val="276A8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12" name="Editable 112"/>
          <p:cNvSpPr txBox="1"/>
          <p:nvPr/>
        </p:nvSpPr>
        <p:spPr>
          <a:xfrm>
            <a:off x="1333500" y="5067300"/>
            <a:ext cx="52387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748391"/>
                </a:solidFill>
                <a:latin typeface="Arial"/>
                <a:ea typeface="Microsoft YaHei"/>
              </a:rPr>
              <a:t>项</a:t>
            </a:r>
          </a:p>
        </p:txBody>
      </p:sp>
      <p:sp>
        <p:nvSpPr>
          <p:cNvPr id="113" name="Editable 113"/>
          <p:cNvSpPr txBox="1"/>
          <p:nvPr/>
        </p:nvSpPr>
        <p:spPr>
          <a:xfrm>
            <a:off x="762000" y="5562600"/>
            <a:ext cx="34290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72F45"/>
                </a:solidFill>
                <a:latin typeface="Arial"/>
                <a:ea typeface="Microsoft YaHei"/>
              </a:rPr>
              <a:t>专利申请</a:t>
            </a:r>
          </a:p>
        </p:txBody>
      </p:sp>
      <p:sp>
        <p:nvSpPr>
          <p:cNvPr id="114" name="Editable 114"/>
          <p:cNvSpPr txBox="1"/>
          <p:nvPr/>
        </p:nvSpPr>
        <p:spPr>
          <a:xfrm>
            <a:off x="4381500" y="4829175"/>
            <a:ext cx="51435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>
                <a:solidFill>
                  <a:srgbClr val="276A8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15" name="Editable 115"/>
          <p:cNvSpPr txBox="1"/>
          <p:nvPr/>
        </p:nvSpPr>
        <p:spPr>
          <a:xfrm>
            <a:off x="4953000" y="5067300"/>
            <a:ext cx="52387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748391"/>
                </a:solidFill>
                <a:latin typeface="Arial"/>
                <a:ea typeface="Microsoft YaHei"/>
              </a:rPr>
              <a:t>项</a:t>
            </a:r>
          </a:p>
        </p:txBody>
      </p:sp>
      <p:sp>
        <p:nvSpPr>
          <p:cNvPr id="116" name="Editable 116"/>
          <p:cNvSpPr txBox="1"/>
          <p:nvPr/>
        </p:nvSpPr>
        <p:spPr>
          <a:xfrm>
            <a:off x="4381500" y="5562600"/>
            <a:ext cx="34290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72F45"/>
                </a:solidFill>
                <a:latin typeface="Arial"/>
                <a:ea typeface="Microsoft YaHei"/>
              </a:rPr>
              <a:t>技术发布</a:t>
            </a:r>
          </a:p>
        </p:txBody>
      </p:sp>
      <p:sp>
        <p:nvSpPr>
          <p:cNvPr id="117" name="Editable 117"/>
          <p:cNvSpPr txBox="1"/>
          <p:nvPr/>
        </p:nvSpPr>
        <p:spPr>
          <a:xfrm>
            <a:off x="8001000" y="4829175"/>
            <a:ext cx="51435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>
                <a:solidFill>
                  <a:srgbClr val="276A8F"/>
                </a:solidFill>
                <a:latin typeface="Arial"/>
                <a:ea typeface="Microsoft YaHei"/>
              </a:rPr>
              <a:t>8</a:t>
            </a:r>
          </a:p>
        </p:txBody>
      </p:sp>
      <p:sp>
        <p:nvSpPr>
          <p:cNvPr id="118" name="Editable 118"/>
          <p:cNvSpPr txBox="1"/>
          <p:nvPr/>
        </p:nvSpPr>
        <p:spPr>
          <a:xfrm>
            <a:off x="8572500" y="5067300"/>
            <a:ext cx="52387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748391"/>
                </a:solidFill>
                <a:latin typeface="Arial"/>
                <a:ea typeface="Microsoft YaHei"/>
              </a:rPr>
              <a:t>项</a:t>
            </a:r>
          </a:p>
        </p:txBody>
      </p:sp>
      <p:sp>
        <p:nvSpPr>
          <p:cNvPr id="119" name="Editable 119"/>
          <p:cNvSpPr txBox="1"/>
          <p:nvPr/>
        </p:nvSpPr>
        <p:spPr>
          <a:xfrm>
            <a:off x="8001000" y="5562600"/>
            <a:ext cx="34290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72F45"/>
                </a:solidFill>
                <a:latin typeface="Arial"/>
                <a:ea typeface="Microsoft YaHei"/>
              </a:rPr>
              <a:t>成果转化</a:t>
            </a:r>
          </a:p>
        </p:txBody>
      </p:sp>
      <p:sp>
        <p:nvSpPr>
          <p:cNvPr id="130" name="Editable 130"/>
          <p:cNvSpPr txBox="1"/>
          <p:nvPr/>
        </p:nvSpPr>
        <p:spPr>
          <a:xfrm>
            <a:off x="6191250" y="3895725"/>
            <a:ext cx="5238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共同作者：Zhuang Tao</a:t>
            </a:r>
          </a:p>
        </p:txBody>
      </p:sp>
      <p:sp>
        <p:nvSpPr>
          <p:cNvPr id="131" name="Editable 131"/>
          <p:cNvSpPr txBox="1"/>
          <p:nvPr/>
        </p:nvSpPr>
        <p:spPr>
          <a:xfrm>
            <a:off x="6191250" y="4143375"/>
            <a:ext cx="5238750" cy="219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预印本首发：2025.11.27</a:t>
            </a:r>
          </a:p>
        </p:txBody>
      </p:sp>
      <p:sp>
        <p:nvSpPr>
          <p:cNvPr id="132" name="Editable 132"/>
          <p:cNvSpPr txBox="1"/>
          <p:nvPr/>
        </p:nvSpPr>
        <p:spPr>
          <a:xfrm>
            <a:off x="6191250" y="4391025"/>
            <a:ext cx="52387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sng">
                <a:solidFill>
                  <a:srgbClr val="276A8F"/>
                </a:solidFill>
                <a:latin typeface="Arial"/>
                <a:ea typeface="Microsoft YaHei"/>
                <a:hlinkClick r:id="rId3"/>
              </a:rPr>
              <a:t>arxiv.org/abs/2511.22481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成果汇总 / 个人工作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回看这两年，重点是把方法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做进可用的系统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算法需要进入系统，平台能力需要走到用户入口，路由决策需要可靠的状态输入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2000" y="2038350"/>
          <a:ext cx="10668000" cy="2428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218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项目</a:t>
                      </a:r>
                    </a:p>
                  </a:txBody>
                  <a:tcPr marL="95250" marR="9525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我重点做了什么</a:t>
                      </a:r>
                    </a:p>
                  </a:txBody>
                  <a:tcPr marL="95250" marR="9525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形成了什么</a:t>
                      </a:r>
                    </a:p>
                  </a:txBody>
                  <a:tcPr marL="95250" marR="95250" marT="57150" marB="5715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218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OmniInfer / OmniPlacement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专家排布、动态均衡、通信和适配测试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算法与工具实现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团队消融 QPM +33.0%，同时存在 TTFT 权衡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218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DataInfra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Extensions 重构、GMS / frontend、Data Agent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复用的元数据 SDK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企业接入、门户和资产工具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221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Omni-ELB / LiteLLM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参与路由设计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实现状态刷新与计数修复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会话与负载相结合的路由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独立刷新脚本、修正后的指标链路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2000" y="4810125"/>
            <a:ext cx="10668000" cy="628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下一步继续做：补充不同负载下的评估，细化 Agent 工具权限，完善线上状态观测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技术备份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附录 A：怎样估算每张卡上的专家负载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2038350"/>
            <a:ext cx="433387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172F45"/>
                </a:solidFill>
                <a:latin typeface="Arial"/>
                <a:ea typeface="Microsoft YaHei"/>
              </a:rPr>
              <a:t>变量定义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447925"/>
            <a:ext cx="4333875" cy="1085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a(l,e)：专家激活量
r(l,e)：专家物理副本数
x(l,e,d)：专家是否部署在设备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6375" y="2038350"/>
            <a:ext cx="6143625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 i="0">
                <a:solidFill>
                  <a:srgbClr val="172F45"/>
                </a:solidFill>
                <a:latin typeface="Arial"/>
                <a:ea typeface="Microsoft YaHei"/>
              </a:rPr>
              <a:t>先估计每张卡要处理多少负载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6375" y="2562225"/>
            <a:ext cx="6143625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200" b="0" i="0">
                <a:solidFill>
                  <a:srgbClr val="276A8F"/>
                </a:solidFill>
                <a:latin typeface="Arial"/>
                <a:ea typeface="Microsoft YaHei"/>
              </a:rPr>
              <a:t>L(l,d) = Σe x(l,e,d) · a(l,e) / r(l,e)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6375" y="3467100"/>
            <a:ext cx="6143625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 i="0">
                <a:solidFill>
                  <a:srgbClr val="172F45"/>
                </a:solidFill>
                <a:latin typeface="Arial"/>
                <a:ea typeface="Microsoft YaHei"/>
              </a:rPr>
              <a:t>再让最忙的卡尽量轻一些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6375" y="3990975"/>
            <a:ext cx="6143625" cy="600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0" i="0">
                <a:solidFill>
                  <a:srgbClr val="172F45"/>
                </a:solidFill>
                <a:latin typeface="Arial"/>
                <a:ea typeface="Microsoft YaHei"/>
              </a:rPr>
              <a:t>min maxd L(l,d)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4724400"/>
            <a:ext cx="10668000" cy="9525"/>
          </a:xfrm>
          <a:prstGeom prst="rect">
            <a:avLst/>
          </a:prstGeom>
          <a:solidFill>
            <a:srgbClr val="D7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000" y="4953000"/>
            <a:ext cx="10668000" cy="647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400" b="0" i="0">
                <a:solidFill>
                  <a:srgbClr val="4A5968"/>
                </a:solidFill>
                <a:latin typeface="Arial"/>
                <a:ea typeface="Microsoft YaHei"/>
              </a:rPr>
              <a:t>约束：专家完整覆盖、每卡槽位、副本上限与显存预算
适用前提：副本可分摊请求。通信代价和更新代价需单独建模、测量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技术备份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附录 B：完整性能对比与测试条件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2000" y="2038350"/>
          <a:ext cx="7048500" cy="34004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指标</a:t>
                      </a:r>
                    </a:p>
                  </a:txBody>
                  <a:tcPr marL="76200" marR="76200" marT="28575" marB="28575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w/o
OmniPlacement</a:t>
                      </a:r>
                    </a:p>
                  </a:txBody>
                  <a:tcPr marL="76200" marR="76200" marT="28575" marB="28575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with
OmniPlacement</a:t>
                      </a:r>
                    </a:p>
                  </a:txBody>
                  <a:tcPr marL="76200" marR="76200" marT="28575" marB="28575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相对变化</a:t>
                      </a:r>
                    </a:p>
                  </a:txBody>
                  <a:tcPr marL="76200" marR="76200" marT="28575" marB="28575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QPM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463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616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76A8F"/>
                          </a:solidFill>
                          <a:latin typeface="Arial"/>
                          <a:ea typeface="Microsoft YaHei"/>
                        </a:rPr>
                        <a:t>+33.0%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TPOT (ms)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65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48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76A8F"/>
                          </a:solidFill>
                          <a:latin typeface="Arial"/>
                          <a:ea typeface="Microsoft YaHei"/>
                        </a:rPr>
                        <a:t>-26.2%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p99 TPOT (ms)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68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50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76A8F"/>
                          </a:solidFill>
                          <a:latin typeface="Arial"/>
                          <a:ea typeface="Microsoft YaHei"/>
                        </a:rPr>
                        <a:t>-26.5%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TTFT (s)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1.342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2.292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0516B"/>
                          </a:solidFill>
                          <a:latin typeface="Arial"/>
                          <a:ea typeface="Microsoft YaHei"/>
                        </a:rPr>
                        <a:t>+70.8%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p99 TTFT (s)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2.419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4.198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0516B"/>
                          </a:solidFill>
                          <a:latin typeface="Arial"/>
                          <a:ea typeface="Microsoft YaHei"/>
                        </a:rPr>
                        <a:t>+73.5%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E2E (s)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78.025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59.206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76A8F"/>
                          </a:solidFill>
                          <a:latin typeface="Arial"/>
                          <a:ea typeface="Microsoft YaHei"/>
                        </a:rPr>
                        <a:t>-24.1%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p99 E2E (s)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196.226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148.364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76A8F"/>
                          </a:solidFill>
                          <a:latin typeface="Arial"/>
                          <a:ea typeface="Microsoft YaHei"/>
                        </a:rPr>
                        <a:t>-24.4%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OTT (tok/s)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45,372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60,575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76A8F"/>
                          </a:solidFill>
                          <a:latin typeface="Arial"/>
                          <a:ea typeface="Microsoft YaHei"/>
                        </a:rPr>
                        <a:t>+33.5%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TTT (tok/s)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169,083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225,546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76A8F"/>
                          </a:solidFill>
                          <a:latin typeface="Arial"/>
                          <a:ea typeface="Microsoft YaHei"/>
                        </a:rPr>
                        <a:t>+33.4%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01000" y="2038350"/>
            <a:ext cx="3429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论文报告的测试条件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457450"/>
            <a:ext cx="3429000" cy="1504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DeepSeek-R1，INT8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Ascend 910C，6P8-1D32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平均输入 3.5K、输出 1K tokens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合计长度小于 16K，长尾分布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补充完成请求，保持固定并发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4162425"/>
            <a:ext cx="3429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看结果时需要一起考虑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4552950"/>
            <a:ext cx="3429000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其余组件保持不变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TTFT 上升，生成阶段延迟下降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 i="0">
                <a:solidFill>
                  <a:srgbClr val="4A5968"/>
                </a:solidFill>
                <a:latin typeface="Arial"/>
                <a:ea typeface="Microsoft YaHei"/>
              </a:rPr>
              <a:t>QPM 沿用论文原值，未换算单位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相对变化以未启用 OmniPlacement 的结果为基准，其他组件保持不变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技术备份 / 模块工作清单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附录 C：各模块的具体工作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2000" y="2038350"/>
          <a:ext cx="10668000" cy="34575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93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模块</a:t>
                      </a:r>
                    </a:p>
                  </a:txBody>
                  <a:tcPr marL="95250" marR="9525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我的工作</a:t>
                      </a:r>
                    </a:p>
                  </a:txBody>
                  <a:tcPr marL="95250" marR="95250" marT="57150" marB="5715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1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代码与文档</a:t>
                      </a:r>
                    </a:p>
                  </a:txBody>
                  <a:tcPr marL="95250" marR="95250" marT="57150" marB="5715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93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OmniPlacement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C++ 优化器、Pattern、动态均衡、通信及适配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旧 placement / 新 omni-eplb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内部历史与开源提交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93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Extensions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统一 API、注册 SDK、权限与 Domain 校验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Extensions / 注册 SDK 设计文档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93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GMS / frontend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SSO、访问名单、Publisher、Token 与门户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认证、权限和门户相关模块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93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Data Agent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对话 SDK、元数据工具、实体链接与配置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datahub_chat / ChatPage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93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Omni-ELB 路由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与同事共同设计会话亲和及负载感知算法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SEG 报告 §2.1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api_key_router.py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941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Omni-ELB 状态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独立 Redis 刷新、PipelineKey 计数修复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独立刷新脚本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>
                          <a:solidFill>
                            <a:srgbClr val="4A5968"/>
                          </a:solidFill>
                          <a:latin typeface="Arial"/>
                          <a:ea typeface="Microsoft YaHei"/>
                        </a:rPr>
                        <a:t>!100 / !98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36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76F873-2CF9-4ADA-8E2A-DEB66529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5EEEB-D8B3-48AE-8584-890D8D06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0:p xmlns:ns0="http://schemas.openxmlformats.org/drawingml/2006/main">
            <ns0:pPr>
              <ns0:defRPr sz="850" b="0">
                <ns0:solidFill>
                  <ns0:srgbClr val="748391"/>
                </ns0:solidFill>
                <ns0:latin typeface="Arial"/>
                <ns0:ea typeface="Microsoft YaHei"/>
                <ns0:cs typeface="Microsoft YaHei"/>
              </ns0:defRPr>
            </ns0:pPr>
            <ns0:r>
              <ns0:rPr sz="850" b="0">
                <ns0:solidFill>
                  <ns0:srgbClr val="748391"/>
                </ns0:solidFill>
                <ns0:latin typeface="Arial"/>
                <ns0:ea typeface="Microsoft YaHei"/>
                <ns0:cs typeface="Microsoft YaHei"/>
              </ns0:rPr>
              <ns0:t>工作历程 / 2025.01—2026.09</ns0:t>
            </ns0:r>
          </ns0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B9A01-ABB1-4D66-A519-DE1D21F1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0:p xmlns:ns0="http://schemas.openxmlformats.org/drawingml/2006/main">
            <ns0:pPr>
              <ns0:defRPr sz="2800" b="0">
                <ns0:solidFill>
                  <ns0:srgbClr val="172F45"/>
                </ns0:solidFill>
                <ns0:latin typeface="Arial"/>
                <ns0:ea typeface="Microsoft YaHei"/>
                <ns0:cs typeface="Microsoft YaHei"/>
              </ns0:defRPr>
            </ns0:pPr>
            <ns0:r>
              <ns0:rPr sz="2800" b="0">
                <ns0:solidFill>
                  <ns0:srgbClr val="172F45"/>
                </ns0:solidFill>
                <ns0:latin typeface="Arial"/>
                <ns0:ea typeface="Microsoft YaHei"/>
                <ns0:cs typeface="Microsoft YaHei"/>
              </ns0:rPr>
              <ns0:t>我的工作沿</ns0:t>
            </ns0:r>
            <ns0:r>
              <ns0:rPr sz="2800" b="1">
                <ns0:solidFill>
                  <ns0:srgbClr val="276A8F"/>
                </ns0:solidFill>
                <ns0:latin typeface="Arial"/>
                <ns0:ea typeface="Microsoft YaHei"/>
                <ns0:cs typeface="Microsoft YaHei"/>
              </ns0:rPr>
              <ns0:t>三条项目线</ns0:t>
            </ns0:r>
            <ns0:r>
              <ns0:rPr sz="2800" b="0">
                <ns0:solidFill>
                  <ns0:srgbClr val="172F45"/>
                </ns0:solidFill>
                <ns0:latin typeface="Arial"/>
                <ns0:ea typeface="Microsoft YaHei"/>
                <ns0:cs typeface="Microsoft YaHei"/>
              </ns0:rPr>
              <ns0:t>逐步展开</ns0:t>
            </ns0:r>
          </ns0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1A144-4704-480E-855C-D85B8A37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509E7-27A9-42C9-9CD3-8B9AA73B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4A32C-03E4-45FD-B710-F999A473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84E57-C5C0-4D26-A914-21F28A9A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977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1:p xmlns:ns1="http://schemas.openxmlformats.org/drawingml/2006/main">
            <ns1:pPr>
              <ns1:defRPr sz="1050" b="0">
                <ns1:solidFill>
                  <ns1:srgbClr val="172F45"/>
                </ns1:solidFill>
                <ns1:latin typeface="Arial"/>
                <ns1:ea typeface="Microsoft YaHei"/>
                <ns1:cs typeface="Microsoft YaHei"/>
              </ns1:defRPr>
            </ns1:pPr>
            <ns1:r>
              <ns1:rPr sz="1050" b="0">
                <ns1:solidFill>
                  <ns1:srgbClr val="172F45"/>
                </ns1:solidFill>
                <ns1:latin typeface="Arial"/>
                <ns1:ea typeface="Microsoft YaHei"/>
                <ns1:cs typeface="Microsoft YaHei"/>
              </ns1:rPr>
              <ns1:t>研究主线是 OmniPlacement，另外两项工作分别面向数据平台和推理服务入口</ns1:t>
            </ns1:r>
          </ns1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852F4-09D0-4BA6-B994-BAAFCFD4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CD720-F1B1-4CFD-AF93-BBA73FAB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64A99-DB73-4F68-9260-B8D07935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1:p xmlns:ns1="http://schemas.openxmlformats.org/drawingml/2006/main">
            <ns1:pPr>
              <ns1:defRPr sz="1300" b="1">
                <ns1:solidFill>
                  <ns1:srgbClr val="276A8F"/>
                </ns1:solidFill>
                <ns1:latin typeface="Arial"/>
                <ns1:ea typeface="Microsoft YaHei"/>
                <ns1:cs typeface="Microsoft YaHei"/>
              </ns1:defRPr>
            </ns1:pPr>
            <ns1:r>
              <ns1:rPr sz="1300" b="1">
                <ns1:solidFill>
                  <ns1:srgbClr val="276A8F"/>
                </ns1:solidFill>
                <ns1:latin typeface="Arial"/>
                <ns1:ea typeface="Microsoft YaHei"/>
                <ns1:cs typeface="Microsoft YaHei"/>
              </ns1:rPr>
              <ns1:t>2025.01—03</ns1:t>
            </ns1:r>
          </ns1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175D0-9DE1-4579-921F-3B3DA84B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2:p xmlns:ns2="http://schemas.openxmlformats.org/drawingml/2006/main">
            <ns2:pPr>
              <ns2:defRPr sz="1700" b="1">
                <ns2:solidFill>
                  <ns2:srgbClr val="172F45"/>
                </ns2:solidFill>
                <ns2:latin typeface="Arial"/>
                <ns2:ea typeface="Microsoft YaHei"/>
                <ns2:cs typeface="Microsoft YaHei"/>
              </ns2:defRPr>
            </ns2:pPr>
            <ns2:r>
              <ns2:rPr sz="1700" b="1">
                <ns2:solidFill>
                  <ns2:srgbClr val="172F45"/>
                </ns2:solidFill>
                <ns2:latin typeface="Arial"/>
                <ns2:ea typeface="Microsoft YaHei"/>
                <ns2:cs typeface="Microsoft YaHei"/>
              </ns2:rPr>
              <ns2:t>开题探索与方向确认</ns2:t>
            </ns2:r>
          </ns2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9264D-D86E-41E8-A50C-68A66CAB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3:p xmlns:ns3="http://schemas.openxmlformats.org/drawingml/2006/main">
            <ns3:pPr>
              <ns3:defRPr sz="1300" b="0">
                <ns3:solidFill>
                  <ns3:srgbClr val="4A5968"/>
                </ns3:solidFill>
                <ns3:latin typeface="Arial"/>
                <ns3:ea typeface="Microsoft YaHei"/>
                <ns3:cs typeface="Microsoft YaHei"/>
              </ns3:defRPr>
            </ns3:pPr>
            <ns3:r>
              <ns3:rPr sz="1300" b="0">
                <ns3:solidFill>
                  <ns3:srgbClr val="4A5968"/>
                </ns3:solidFill>
                <ns3:latin typeface="Arial"/>
                <ns3:ea typeface="Microsoft YaHei"/>
                <ns3:cs typeface="Microsoft YaHei"/>
              </ns3:rPr>
              <ns3:t>确定 MoE 专家亲和性驱动的</ns3:t>
            </ns3:r>
          </ns3:p>
          <ns4:p xmlns:ns4="http://schemas.openxmlformats.org/drawingml/2006/main">
            <ns4:pPr>
              <ns4:defRPr sz="1300" b="0">
                <ns4:solidFill>
                  <ns4:srgbClr val="4A5968"/>
                </ns4:solidFill>
                <ns4:latin typeface="Arial"/>
                <ns4:ea typeface="Microsoft YaHei"/>
                <ns4:cs typeface="Microsoft YaHei"/>
              </ns4:defRPr>
            </ns4:pPr>
            <ns4:r>
              <ns4:rPr sz="1300" b="0">
                <ns4:solidFill>
                  <ns4:srgbClr val="4A5968"/>
                </ns4:solidFill>
                <ns4:latin typeface="Arial"/>
                <ns4:ea typeface="Microsoft YaHei"/>
                <ns4:cs typeface="Microsoft YaHei"/>
              </ns4:rPr>
              <ns4:t>推理优化为探索方向</ns4:t>
            </ns4:r>
          </ns4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73BA4-52FC-4F1D-B722-64472B4C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E3BE4-AB42-4993-94A0-5BD75361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828FC-D805-4142-846F-655C7622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907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5:p xmlns:ns5="http://schemas.openxmlformats.org/drawingml/2006/main">
            <ns5:pPr>
              <ns5:defRPr sz="1300" b="1">
                <ns5:solidFill>
                  <ns5:srgbClr val="276A8F"/>
                </ns5:solidFill>
                <ns5:latin typeface="Arial"/>
                <ns5:ea typeface="Microsoft YaHei"/>
                <ns5:cs typeface="Microsoft YaHei"/>
              </ns5:defRPr>
            </ns5:pPr>
            <ns5:r>
              <ns5:rPr sz="1300" b="1">
                <ns5:solidFill>
                  <ns5:srgbClr val="276A8F"/>
                </ns5:solidFill>
                <ns5:latin typeface="Arial"/>
                <ns5:ea typeface="Microsoft YaHei"/>
                <ns5:cs typeface="Microsoft YaHei"/>
              </ns5:rPr>
              <ns5:t>2025.03—06</ns5:t>
            </ns5:r>
          </ns5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2CF2B-B610-4922-A6C0-E09959AA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6:p xmlns:ns6="http://schemas.openxmlformats.org/drawingml/2006/main">
            <ns6:pPr>
              <ns6:defRPr sz="1700" b="1">
                <ns6:solidFill>
                  <ns6:srgbClr val="172F45"/>
                </ns6:solidFill>
                <ns6:latin typeface="Arial"/>
                <ns6:ea typeface="Microsoft YaHei"/>
                <ns6:cs typeface="Microsoft YaHei"/>
              </ns6:defRPr>
            </ns6:pPr>
            <ns6:r>
              <ns6:rPr sz="1700" b="1">
                <ns6:solidFill>
                  <ns6:srgbClr val="172F45"/>
                </ns6:solidFill>
                <ns6:latin typeface="Arial"/>
                <ns6:ea typeface="Microsoft YaHei"/>
                <ns6:cs typeface="Microsoft YaHei"/>
              </ns6:rPr>
              <ns6:t>C++ 核心开发与算法迭代</ns6:t>
            </ns6:r>
          </ns6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45BD1-1356-4625-B496-1794A7E2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337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7:p xmlns:ns7="http://schemas.openxmlformats.org/drawingml/2006/main">
            <ns7:pPr>
              <ns7:defRPr sz="1300" b="0">
                <ns7:solidFill>
                  <ns7:srgbClr val="4A5968"/>
                </ns7:solidFill>
                <ns7:latin typeface="Arial"/>
                <ns7:ea typeface="Microsoft YaHei"/>
                <ns7:cs typeface="Microsoft YaHei"/>
              </ns7:defRPr>
            </ns7:pPr>
            <ns7:r>
              <ns7:rPr sz="1300" b="0">
                <ns7:solidFill>
                  <ns7:srgbClr val="4A5968"/>
                </ns7:solidFill>
                <ns7:latin typeface="Arial"/>
                <ns7:ea typeface="Microsoft YaHei"/>
                <ns7:cs typeface="Microsoft YaHei"/>
              </ns7:rPr>
              <ns7:t>交换、冗余与调整收益</ns7:t>
            </ns7:r>
          </ns7:p>
          <ns8:p xmlns:ns8="http://schemas.openxmlformats.org/drawingml/2006/main">
            <ns8:pPr>
              <ns8:defRPr sz="1300" b="0">
                <ns8:solidFill>
                  <ns8:srgbClr val="4A5968"/>
                </ns8:solidFill>
                <ns8:latin typeface="Arial"/>
                <ns8:ea typeface="Microsoft YaHei"/>
                <ns8:cs typeface="Microsoft YaHei"/>
              </ns8:defRPr>
            </ns8:pPr>
            <ns8:r>
              <ns8:rPr sz="1300" b="0">
                <ns8:solidFill>
                  <ns8:srgbClr val="4A5968"/>
                </ns8:solidFill>
                <ns8:latin typeface="Arial"/>
                <ns8:ea typeface="Microsoft YaHei"/>
                <ns8:cs typeface="Microsoft YaHei"/>
              </ns8:rPr>
              <ns8:t>Pattern 工具、UT 和算法验证</ns8:t>
            </ns8:r>
          </ns8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67806-FAFE-4075-A953-3F21A0A3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6D762B-0D32-4B0F-B71D-F110F2C7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D9DA5-55F2-4A3F-8002-9ACDE29E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907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276A8F"/>
                </a:solidFill>
                <a:latin typeface="Arial"/>
                <a:ea typeface="Microsoft YaHei"/>
                <a:cs typeface="Microsoft YaHei"/>
              </a:defRPr>
            </a:pPr>
            <a:r>
              <a:rPr sz="1300" b="1">
                <a:solidFill>
                  <a:srgbClr val="276A8F"/>
                </a:solidFill>
                <a:latin typeface="Arial"/>
                <a:ea typeface="Microsoft YaHei"/>
                <a:cs typeface="Microsoft YaHei"/>
              </a:rPr>
              <a:t>2025.07—12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6404B-5217-40C0-ADF6-BE20AAFF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0" b="1">
                <a:solidFill>
                  <a:srgbClr val="172F45"/>
                </a:solidFill>
                <a:latin typeface="Arial"/>
                <a:ea typeface="Microsoft YaHei"/>
                <a:cs typeface="Microsoft YaHei"/>
              </a:defRPr>
            </a:pPr>
            <a:r>
              <a:rPr sz="1700" b="1">
                <a:solidFill>
                  <a:srgbClr val="172F45"/>
                </a:solidFill>
                <a:latin typeface="Arial"/>
                <a:ea typeface="Microsoft YaHei"/>
                <a:cs typeface="Microsoft YaHei"/>
              </a:rPr>
              <a:t>开源集成与技术输出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EBA63-A93F-40B3-A03A-6A4FB527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defRPr>
            </a:pPr>
            <a:r>
              <a:rPr sz="13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rPr>
              <a:t>工具、动态更新、模型适配</a:t>
            </a:r>
          </a:p>
          <a:p xmlns:a="http://schemas.openxmlformats.org/drawingml/2006/main">
            <a:pPr>
              <a:defRPr sz="13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defRPr>
            </a:pPr>
            <a:r>
              <a:rPr sz="13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rPr>
              <a:t>技术报告与 OmniInfer 团队论文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926E35-4F36-49B9-8767-DA021F10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2F47FC-B4EE-48BA-933D-D1E7E686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3B7644-D787-40EE-9545-138D0554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276A8F"/>
                </a:solidFill>
                <a:latin typeface="Arial"/>
                <a:ea typeface="Microsoft YaHei"/>
                <a:cs typeface="Microsoft YaHei"/>
              </a:defRPr>
            </a:pPr>
            <a:r>
              <a:rPr sz="1300" b="1">
                <a:solidFill>
                  <a:srgbClr val="276A8F"/>
                </a:solidFill>
                <a:latin typeface="Arial"/>
                <a:ea typeface="Microsoft YaHei"/>
                <a:cs typeface="Microsoft YaHei"/>
              </a:rPr>
              <a:t>2026.03—04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8C5771-B22A-42AD-8DA1-8060CE33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0" b="1">
                <a:solidFill>
                  <a:srgbClr val="172F45"/>
                </a:solidFill>
                <a:latin typeface="Arial"/>
                <a:ea typeface="Microsoft YaHei"/>
                <a:cs typeface="Microsoft YaHei"/>
              </a:defRPr>
            </a:pPr>
            <a:r>
              <a:rPr sz="1700" b="1">
                <a:solidFill>
                  <a:srgbClr val="172F45"/>
                </a:solidFill>
                <a:latin typeface="Arial"/>
                <a:ea typeface="Microsoft YaHei"/>
                <a:cs typeface="Microsoft YaHei"/>
              </a:rPr>
              <a:t>通信与独立 SDK 延续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5A287D-3B3C-4D7A-A21B-EAEAF28C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4:p xmlns:ns4="http://schemas.openxmlformats.org/drawingml/2006/main">
            <ns4:pPr>
              <ns4:defRPr sz="1300" b="0">
                <ns4:solidFill>
                  <ns4:srgbClr val="4A5968"/>
                </ns4:solidFill>
                <ns4:latin typeface="Arial"/>
                <ns4:ea typeface="Microsoft YaHei"/>
                <ns4:cs typeface="Microsoft YaHei"/>
              </ns4:defRPr>
            </ns4:pPr>
            <ns4:r>
              <ns4:rPr sz="1300" b="0">
                <ns4:solidFill>
                  <ns4:srgbClr val="4A5968"/>
                </ns4:solidFill>
                <ns4:latin typeface="Arial"/>
                <ns4:ea typeface="Microsoft YaHei"/>
                <ns4:cs typeface="Microsoft YaHei"/>
              </ns4:rPr>
              <ns4:t>新 HCCL context 支持</ns4:t>
            </ns4:r>
          </ns4:p>
          <ns5:p xmlns:ns5="http://schemas.openxmlformats.org/drawingml/2006/main">
            <ns5:pPr>
              <ns5:defRPr sz="1300" b="0">
                <ns5:solidFill>
                  <ns5:srgbClr val="4A5968"/>
                </ns5:solidFill>
                <ns5:latin typeface="Arial"/>
                <ns5:ea typeface="Microsoft YaHei"/>
                <ns5:cs typeface="Microsoft YaHei"/>
              </ns5:defRPr>
            </ns5:pPr>
            <ns5:r>
              <ns5:rPr sz="1300" b="0">
                <ns5:solidFill>
                  <ns5:srgbClr val="4A5968"/>
                </ns5:solidFill>
                <ns5:latin typeface="Arial"/>
                <ns5:ea typeface="Microsoft YaHei"/>
                <ns5:cs typeface="Microsoft YaHei"/>
              </ns5:rPr>
              <ns5:t>延续到 Omni-EPLB SDK</ns5:t>
            </ns5:r>
          </ns5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703F86-7FC9-44B1-A26A-4003C56A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576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155AB-410E-43F5-9BB5-BB4ED075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29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17A0A2-E936-49C1-BD08-CF3F983A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276A8F"/>
                </a:solidFill>
                <a:latin typeface="Arial"/>
                <a:ea typeface="Microsoft YaHei"/>
                <a:cs typeface="Microsoft YaHei"/>
              </a:defRPr>
            </a:pPr>
            <a:r>
              <a:rPr sz="1300" b="1">
                <a:solidFill>
                  <a:srgbClr val="276A8F"/>
                </a:solidFill>
                <a:latin typeface="Arial"/>
                <a:ea typeface="Microsoft YaHei"/>
                <a:cs typeface="Microsoft YaHei"/>
              </a:rPr>
              <a:t>2026.05—09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696E91-743B-424D-B198-184A72C7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195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0" b="1">
                <a:solidFill>
                  <a:srgbClr val="172F45"/>
                </a:solidFill>
                <a:latin typeface="Arial"/>
                <a:ea typeface="Microsoft YaHei"/>
                <a:cs typeface="Microsoft YaHei"/>
              </a:defRPr>
            </a:pPr>
            <a:r>
              <a:rPr sz="1700" b="1">
                <a:solidFill>
                  <a:srgbClr val="172F45"/>
                </a:solidFill>
                <a:latin typeface="Arial"/>
                <a:ea typeface="Microsoft YaHei"/>
                <a:cs typeface="Microsoft YaHei"/>
              </a:rPr>
              <a:t>DataInfra 平台开发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0CCAB2-850A-436D-B290-55A7DDE1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57725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defRPr>
            </a:pPr>
            <a:r>
              <a:rPr sz="13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rPr>
              <a:t>Extensions、GMS、frontend</a:t>
            </a:r>
          </a:p>
          <a:p xmlns:a="http://schemas.openxmlformats.org/drawingml/2006/main">
            <a:pPr>
              <a:defRPr sz="13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defRPr>
            </a:pPr>
            <a:r>
              <a:rPr sz="13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rPr>
              <a:t>Data Agent 与配套验证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C475D2-7818-4B0E-94FF-A5064FE5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576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14566C-E7F2-44A9-BC69-FFE971A0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29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905E6A-EC32-4CBF-A2F3-1EBD6AA5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276A8F"/>
                </a:solidFill>
                <a:latin typeface="Arial"/>
                <a:ea typeface="Microsoft YaHei"/>
                <a:cs typeface="Microsoft YaHei"/>
              </a:defRPr>
            </a:pPr>
            <a:r>
              <a:rPr sz="1300" b="1">
                <a:solidFill>
                  <a:srgbClr val="276A8F"/>
                </a:solidFill>
                <a:latin typeface="Arial"/>
                <a:ea typeface="Microsoft YaHei"/>
                <a:cs typeface="Microsoft YaHei"/>
              </a:rPr>
              <a:t>2026.08—09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144D63-7868-44E8-9EC0-DFACBA8D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95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0" b="1">
                <a:solidFill>
                  <a:srgbClr val="172F45"/>
                </a:solidFill>
                <a:latin typeface="Arial"/>
                <a:ea typeface="Microsoft YaHei"/>
                <a:cs typeface="Microsoft YaHei"/>
              </a:defRPr>
            </a:pPr>
            <a:r>
              <a:rPr sz="1700" b="1">
                <a:solidFill>
                  <a:srgbClr val="172F45"/>
                </a:solidFill>
                <a:latin typeface="Arial"/>
                <a:ea typeface="Microsoft YaHei"/>
                <a:cs typeface="Microsoft YaHei"/>
              </a:rPr>
              <a:t>LiteLLM 网关工程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506AC4-6A29-4B58-93FC-21514F86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57725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6:p xmlns:ns6="http://schemas.openxmlformats.org/drawingml/2006/main">
            <ns6:pPr>
              <ns6:defRPr sz="1300" b="0">
                <ns6:solidFill>
                  <ns6:srgbClr val="4A5968"/>
                </ns6:solidFill>
                <ns6:latin typeface="Arial"/>
                <ns6:ea typeface="Microsoft YaHei"/>
                <ns6:cs typeface="Microsoft YaHei"/>
              </ns6:defRPr>
            </ns6:pPr>
            <ns6:r>
              <ns6:rPr sz="1300" b="0">
                <ns6:solidFill>
                  <ns6:srgbClr val="4A5968"/>
                </ns6:solidFill>
                <ns6:latin typeface="Arial"/>
                <ns6:ea typeface="Microsoft YaHei"/>
                <ns6:cs typeface="Microsoft YaHei"/>
              </ns6:rPr>
              <ns6:t>会话亲和与负载感知路由</ns6:t>
            </ns6:r>
          </ns6:p>
          <ns7:p xmlns:ns7="http://schemas.openxmlformats.org/drawingml/2006/main">
            <ns7:pPr>
              <ns7:defRPr sz="1300" b="0">
                <ns7:solidFill>
                  <ns7:srgbClr val="4A5968"/>
                </ns7:solidFill>
                <ns7:latin typeface="Arial"/>
                <ns7:ea typeface="Microsoft YaHei"/>
                <ns7:cs typeface="Microsoft YaHei"/>
              </ns7:defRPr>
            </ns7:pPr>
            <ns7:r>
              <ns7:rPr sz="1300" b="0">
                <ns7:solidFill>
                  <ns7:srgbClr val="4A5968"/>
                </ns7:solidFill>
                <ns7:latin typeface="Arial"/>
                <ns7:ea typeface="Microsoft YaHei"/>
                <ns7:cs typeface="Microsoft YaHei"/>
              </ns7:rPr>
              <ns7:t>指标修复、独立 Redis 刷新</ns7:t>
            </ns7:r>
          </ns7:p>
        </p:txBody>
      </p:sp>
      <p:sp xmlns:a="http://schemas.openxmlformats.org/drawingml/2006/main">
        <p:nvSpPr>
          <p:cNvPr id="40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81" name="Editable 81">
            <a:extLst xmlns:a="http://schemas.openxmlformats.org/drawingml/2006/main">
              <a:ext uri="{FF2B5EF4-FFF2-40B4-BE49-F238E27FC236}">
                <a16:creationId xmlns:a16="http://schemas.microsoft.com/office/drawing/2014/main" id="{E469264D-D86E-41E8-A50C-68A66CAB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525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0:p xmlns:ns0="http://schemas.openxmlformats.org/drawingml/2006/main">
            <ns0:pPr>
              <ns0:defRPr sz="1300" b="0">
                <ns0:solidFill>
                  <ns0:srgbClr val="4A5968"/>
                </ns0:solidFill>
                <ns0:latin typeface="Arial"/>
                <ns0:ea typeface="Microsoft YaHei"/>
                <ns0:cs typeface="Microsoft YaHei"/>
              </ns0:defRPr>
            </ns0:pPr>
            <ns0:r>
              <ns0:rPr sz="1200" b="0">
                <ns0:solidFill>
                  <ns0:srgbClr val="4A5968"/>
                </ns0:solidFill>
                <ns0:latin typeface="Arial"/>
                <ns0:ea typeface="Microsoft YaHei"/>
                <ns0:cs typeface="Microsoft YaHei"/>
              </ns0:rPr>
              <ns0:t>博士后周期：2025.01—2027.01    本次汇报进展截至 2026.09</ns0:t>
            </ns0:r>
          </ns0:p>
        </p:txBody>
      </p:sp>
    </p:spTree>
    <p:extLst>
      <p:ext uri="{BB962C8B-B14F-4D97-AF65-F5344CB8AC3E}">
        <p14:creationId xmlns:p14="http://schemas.microsoft.com/office/powerpoint/2010/main" val="1823098892"/>
      </p:ext>
    </p:extLst>
  </p:cSld>
</p:sld>
</file>

<file path=ppt/slides/slide3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1FA79-0BF6-45D2-B0C0-EFA17AC6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6D2A9-1995-437B-B8DA-2166E94E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50" b="0">
                <a:solidFill>
                  <a:srgbClr val="748391"/>
                </a:solidFill>
                <a:latin typeface="Arial"/>
                <a:ea typeface="Microsoft YaHei"/>
                <a:cs typeface="Microsoft YaHei"/>
              </a:defRPr>
            </a:pPr>
            <a:r>
              <a:rPr sz="850" b="0">
                <a:solidFill>
                  <a:srgbClr val="748391"/>
                </a:solidFill>
                <a:latin typeface="Arial"/>
                <a:ea typeface="Microsoft YaHei"/>
                <a:cs typeface="Microsoft YaHei"/>
              </a:rPr>
              <a:t>01 / 开源前核心开发 · 2025.03—07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AF9AF-0556-4C13-9FBC-F41DF9F3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0:p xmlns:ns0="http://schemas.openxmlformats.org/drawingml/2006/main">
            <ns0:pPr>
              <ns0:defRPr sz="2800" b="0">
                <ns0:solidFill>
                  <ns0:srgbClr val="172F45"/>
                </ns0:solidFill>
                <ns0:latin typeface="Arial"/>
                <ns0:ea typeface="Microsoft YaHei"/>
                <ns0:cs typeface="Microsoft YaHei"/>
              </ns0:defRPr>
            </ns0:pPr>
            <ns0:r>
              <ns0:rPr sz="2800" b="0">
                <ns0:solidFill>
                  <ns0:srgbClr val="172F45"/>
                </ns0:solidFill>
                <ns0:latin typeface="Arial"/>
                <ns0:ea typeface="Microsoft YaHei"/>
                <ns0:cs typeface="Microsoft YaHei"/>
              </ns0:rPr>
              <ns0:t>开源之前，我已经在做 </ns0:t>
            </ns0:r>
            <ns0:r>
              <ns0:rPr sz="2800" b="1">
                <ns0:solidFill>
                  <ns0:srgbClr val="276A8F"/>
                </ns0:solidFill>
                <ns0:latin typeface="Arial"/>
                <ns0:ea typeface="Microsoft YaHei"/>
                <ns0:cs typeface="Microsoft YaHei"/>
              </ns0:rPr>
              <ns0:t>C++ 核心开发</ns0:t>
            </ns0:r>
          </ns0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41495-9C08-4E0A-9B36-730E7EF6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0BC33-F498-4FC3-B3A4-C6C249E0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7B8C0-D88E-4EF1-BED1-F665507A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57F19-49C4-4032-AA1E-1B98F263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977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1:p xmlns:ns1="http://schemas.openxmlformats.org/drawingml/2006/main">
            <ns1:pPr>
              <ns1:defRPr sz="1050" b="0">
                <ns1:solidFill>
                  <ns1:srgbClr val="172F45"/>
                </ns1:solidFill>
                <ns1:latin typeface="Arial"/>
                <ns1:ea typeface="Microsoft YaHei"/>
                <ns1:cs typeface="Microsoft YaHei"/>
              </ns1:defRPr>
            </ns1:pPr>
            <ns1:r>
              <ns1:rPr sz="1050" b="0">
                <ns1:solidFill>
                  <ns1:srgbClr val="172F45"/>
                </ns1:solidFill>
                <ns1:latin typeface="Arial"/>
                <ns1:ea typeface="Microsoft YaHei"/>
                <ns1:cs typeface="Microsoft YaHei"/>
              </ns1:rPr>
              <ns1:t>这段内部研发，逐步形成了后续专家均衡的核心实现和研究思路</ns1:t>
            </ns1:r>
          </ns1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A8B26-1C3C-451A-BE98-A3EB20EF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00" b="1">
                <a:solidFill>
                  <a:srgbClr val="276A8F"/>
                </a:solidFill>
                <a:latin typeface="Arial"/>
                <a:ea typeface="Microsoft YaHei"/>
                <a:cs typeface="Microsoft YaHei"/>
              </a:defRPr>
            </a:pPr>
            <a:r>
              <a:rPr sz="4000" b="1">
                <a:solidFill>
                  <a:srgbClr val="276A8F"/>
                </a:solidFill>
                <a:latin typeface="Arial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D8949-3AD4-4E74-A1CE-CB435515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5740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72F45"/>
                </a:solidFill>
                <a:latin typeface="Arial"/>
                <a:ea typeface="Microsoft YaHei"/>
                <a:cs typeface="Microsoft YaHei"/>
              </a:defRPr>
            </a:pPr>
            <a:r>
              <a:rPr sz="1900" b="1">
                <a:solidFill>
                  <a:srgbClr val="172F45"/>
                </a:solidFill>
                <a:latin typeface="Arial"/>
                <a:ea typeface="Microsoft YaHei"/>
                <a:cs typeface="Microsoft YaHei"/>
              </a:rPr>
              <a:t>内部 MR 创建记录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87D87-98A0-4782-B604-9B018C81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479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defRPr>
            </a:pPr>
            <a:r>
              <a:rPr sz="13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rPr>
              <a:t>内部研发阶段：2025 年 3 月至 7 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B251A-5E18-4F06-8EDF-4E3837DE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A1D08-4ACD-4C0A-B53D-5D885078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2:p xmlns:ns2="http://schemas.openxmlformats.org/drawingml/2006/main">
            <ns2:pPr>
              <ns2:defRPr sz="1800" b="1">
                <ns2:solidFill>
                  <ns2:srgbClr val="172F45"/>
                </ns2:solidFill>
                <ns2:latin typeface="Arial"/>
                <ns2:ea typeface="Microsoft YaHei"/>
                <ns2:cs typeface="Microsoft YaHei"/>
              </ns2:defRPr>
            </ns2:pPr>
            <ns2:r>
              <ns2:rPr sz="1800" b="1">
                <ns2:solidFill>
                  <ns2:srgbClr val="172F45"/>
                </ns2:solidFill>
                <ns2:latin typeface="Arial"/>
                <ns2:ea typeface="Microsoft YaHei"/>
                <ns2:cs typeface="Microsoft YaHei"/>
              </ns2:rPr>
              <ns2:t>把原型补成可用的 C++ 实现</ns2:t>
            </ns2:r>
          </ns2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ECC99-47B6-4544-BDCF-EFE4EAC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5048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defRPr>
            </a:pPr>
            <a:r>
              <a:rPr sz="14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rPr>
              <a:t>核心类与接口、参数约束</a:t>
            </a:r>
          </a:p>
          <a:p xmlns:a="http://schemas.openxmlformats.org/drawingml/2006/main">
            <a:pPr>
              <a:defRPr sz="14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defRPr>
            </a:pPr>
            <a:r>
              <a:rPr sz="14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rPr>
              <a:t>热点排序、rank 检查</a:t>
            </a:r>
          </a:p>
          <a:p xmlns:a="http://schemas.openxmlformats.org/drawingml/2006/main">
            <a:pPr>
              <a:defRPr sz="14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defRPr>
            </a:pPr>
            <a:r>
              <a:rPr sz="14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rPr>
              <a:t>内存拷贝异常处理、代码注释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98570-4AFA-48B9-80CD-00F1D4B6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3:p xmlns:ns3="http://schemas.openxmlformats.org/drawingml/2006/main">
            <ns3:pPr>
              <ns3:defRPr sz="1800" b="1">
                <ns3:solidFill>
                  <ns3:srgbClr val="172F45"/>
                </ns3:solidFill>
                <ns3:latin typeface="Arial"/>
                <ns3:ea typeface="Microsoft YaHei"/>
                <ns3:cs typeface="Microsoft YaHei"/>
              </ns3:defRPr>
            </ns3:pPr>
            <ns3:r>
              <ns3:rPr sz="1800" b="1">
                <ns3:solidFill>
                  <ns3:srgbClr val="172F45"/>
                </ns3:solidFill>
                <ns3:latin typeface="Arial"/>
                <ns3:ea typeface="Microsoft YaHei"/>
                <ns3:cs typeface="Microsoft YaHei"/>
              </ns3:rPr>
              <ns3:t>一边实现，一边明确研究问题</ns3:t>
            </ns3:r>
          </ns3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56615-E5F7-4231-BB75-FEC01BC3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5238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4:p xmlns:ns4="http://schemas.openxmlformats.org/drawingml/2006/main">
            <ns4:pPr>
              <ns4:defRPr sz="1400" b="0">
                <ns4:solidFill>
                  <ns4:srgbClr val="4A5968"/>
                </ns4:solidFill>
                <ns4:latin typeface="Arial"/>
                <ns4:ea typeface="Microsoft YaHei"/>
                <ns4:cs typeface="Microsoft YaHei"/>
              </ns4:defRPr>
            </ns4:pPr>
            <ns4:r>
              <ns4:rPr sz="1400" b="0">
                <ns4:solidFill>
                  <ns4:srgbClr val="4A5968"/>
                </ns4:solidFill>
                <ns4:latin typeface="Arial"/>
                <ns4:ea typeface="Microsoft YaHei"/>
                <ns4:cs typeface="Microsoft YaHei"/>
              </ns4:rPr>
              <ns4:t>多冗余、热冷卡分配与调整收益</ns4:t>
            </ns4:r>
          </ns4:p>
          <ns5:p xmlns:ns5="http://schemas.openxmlformats.org/drawingml/2006/main">
            <ns5:pPr>
              <ns5:defRPr sz="1400" b="0">
                <ns5:solidFill>
                  <ns5:srgbClr val="4A5968"/>
                </ns5:solidFill>
                <ns5:latin typeface="Arial"/>
                <ns5:ea typeface="Microsoft YaHei"/>
                <ns5:cs typeface="Microsoft YaHei"/>
              </ns5:defRPr>
            </ns5:pPr>
            <ns5:r>
              <ns5:rPr sz="1400" b="0">
                <ns5:solidFill>
                  <ns5:srgbClr val="4A5968"/>
                </ns5:solidFill>
                <ns5:latin typeface="Arial"/>
                <ns5:ea typeface="Microsoft YaHei"/>
                <ns5:cs typeface="Microsoft YaHei"/>
              </ns5:rPr>
              <ns5:t>静态 / 动态 Pattern 怎样配合</ns5:t>
            </ns5:r>
          </ns5:p>
          <ns6:p xmlns:ns6="http://schemas.openxmlformats.org/drawingml/2006/main">
            <ns6:pPr>
              <ns6:defRPr sz="1400" b="0">
                <ns6:solidFill>
                  <ns6:srgbClr val="4A5968"/>
                </ns6:solidFill>
                <ns6:latin typeface="Arial"/>
                <ns6:ea typeface="Microsoft YaHei"/>
                <ns6:cs typeface="Microsoft YaHei"/>
              </ns6:defRPr>
            </ns6:pPr>
            <ns6:r>
              <ns6:rPr sz="1400" b="0">
                <ns6:solidFill>
                  <ns6:srgbClr val="4A5968"/>
                </ns6:solidFill>
                <ns6:latin typeface="Arial"/>
                <ns6:ea typeface="Microsoft YaHei"/>
                <ns6:cs typeface="Microsoft YaHei"/>
              </ns6:rPr>
              <ns6:t>不同层需要多少冗余</ns6:t>
            </ns6:r>
          </ns6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091B3-676C-47DE-AB83-BA9B97DA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14925"/>
            <a:ext cx="523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7:p xmlns:ns7="http://schemas.openxmlformats.org/drawingml/2006/main">
            <ns7:pPr>
              <ns7:defRPr sz="1000" b="0">
                <ns7:solidFill>
                  <ns7:srgbClr val="748391"/>
                </ns7:solidFill>
                <ns7:latin typeface="Arial"/>
                <ns7:ea typeface="Microsoft YaHei"/>
                <ns7:cs typeface="Microsoft YaHei"/>
              </ns7:defRPr>
            </ns7:pPr>
            <ns7:r>
              <ns7:rPr sz="1000" b="0">
                <ns7:solidFill>
                  <ns7:srgbClr val="748391"/>
                </ns7:solidFill>
                <ns7:latin typeface="Arial"/>
                <ns7:ea typeface="Microsoft YaHei"/>
                <ns7:cs typeface="Microsoft YaHei"/>
              </ns7:rPr>
              <ns7:t>2025 年 4 月开始集中讨论这些问题</ns7:t>
            </ns7:r>
          </ns7:p>
        </p:txBody>
      </p:sp>
      <p:sp xmlns:a="http://schemas.openxmlformats.org/drawingml/2006/main">
        <p:nvSpPr>
          <p:cNvPr id="20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83813985"/>
      </p:ext>
    </p:extLst>
  </p:cSld>
</p:sld>
</file>

<file path=ppt/slides/slide3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78F4D1-1523-4FD1-B8D6-B64551B2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967A5-502B-41D3-93B1-2E784BDB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50" b="0">
                <a:solidFill>
                  <a:srgbClr val="748391"/>
                </a:solidFill>
                <a:latin typeface="Arial"/>
                <a:ea typeface="Microsoft YaHei"/>
                <a:cs typeface="Microsoft YaHei"/>
              </a:defRPr>
            </a:pPr>
            <a:r>
              <a:rPr sz="850" b="0">
                <a:solidFill>
                  <a:srgbClr val="748391"/>
                </a:solidFill>
                <a:latin typeface="Arial"/>
                <a:ea typeface="Microsoft YaHei"/>
                <a:cs typeface="Microsoft YaHei"/>
              </a:rPr>
              <a:t>01 / 开源前核心开发 · 方法迭代与工程验证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74E04-2D0F-4BB9-AD64-D91A1A77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0:p xmlns:ns0="http://schemas.openxmlformats.org/drawingml/2006/main">
            <ns0:pPr>
              <ns0:defRPr sz="2800" b="0">
                <ns0:solidFill>
                  <ns0:srgbClr val="172F45"/>
                </ns0:solidFill>
                <ns0:latin typeface="Arial"/>
                <ns0:ea typeface="Microsoft YaHei"/>
                <ns0:cs typeface="Microsoft YaHei"/>
              </ns0:defRPr>
            </ns0:pPr>
            <ns0:r>
              <ns0:rPr sz="2800" b="0">
                <ns0:solidFill>
                  <ns0:srgbClr val="172F45"/>
                </ns0:solidFill>
                <ns0:latin typeface="Arial"/>
                <ns0:ea typeface="Microsoft YaHei"/>
                <ns0:cs typeface="Microsoft YaHei"/>
              </ns0:rPr>
              <ns0:t>算法经过</ns0:t>
            </ns0:r>
            <ns0:r>
              <ns0:rPr sz="2800" b="1">
                <ns0:solidFill>
                  <ns0:srgbClr val="276A8F"/>
                </ns0:solidFill>
                <ns0:latin typeface="Arial"/>
                <ns0:ea typeface="Microsoft YaHei"/>
                <ns0:cs typeface="Microsoft YaHei"/>
              </ns0:rPr>
              <ns0:t>多轮迭代</ns0:t>
            </ns0:r>
            <ns0:r>
              <ns0:rPr sz="2800" b="0">
                <ns0:solidFill>
                  <ns0:srgbClr val="172F45"/>
                </ns0:solidFill>
                <ns0:latin typeface="Arial"/>
                <ns0:ea typeface="Microsoft YaHei"/>
                <ns0:cs typeface="Microsoft YaHei"/>
              </ns0:rPr>
              <ns0:t>，工具和测试同步跟上</ns0:t>
            </ns0:r>
          </ns0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C962F-67A8-411F-BA3A-8F1EBBAA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A3A25-4BFA-41AD-96DF-F2BBDAED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E28CC-D61A-4C10-9A21-CDF95340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A186B-FDE9-45D2-9945-F0266541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977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1:p xmlns:ns1="http://schemas.openxmlformats.org/drawingml/2006/main">
            <ns1:pPr>
              <ns1:defRPr sz="1050" b="0">
                <ns1:solidFill>
                  <ns1:srgbClr val="172F45"/>
                </ns1:solidFill>
                <ns1:latin typeface="Arial"/>
                <ns1:ea typeface="Microsoft YaHei"/>
                <ns1:cs typeface="Microsoft YaHei"/>
              </ns1:defRPr>
            </ns1:pPr>
            <ns1:r>
              <ns1:rPr sz="1050" b="0">
                <ns1:solidFill>
                  <ns1:srgbClr val="172F45"/>
                </ns1:solidFill>
                <ns1:latin typeface="Arial"/>
                <ns1:ea typeface="Microsoft YaHei"/>
                <ns1:cs typeface="Microsoft YaHei"/>
              </ns1:rPr>
              <ns1:t>每轮算法修改，都需要配套的测试、调试工具和可比较的输出</ns1:t>
            </ns1:r>
          </ns1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C2243-CC4B-444A-BFB2-048C4217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2:p xmlns:ns2="http://schemas.openxmlformats.org/drawingml/2006/main">
            <ns2:pPr>
              <ns2:defRPr sz="1800" b="1">
                <ns2:solidFill>
                  <ns2:srgbClr val="172F45"/>
                </ns2:solidFill>
                <ns2:latin typeface="Arial"/>
                <ns2:ea typeface="Microsoft YaHei"/>
                <ns2:cs typeface="Microsoft YaHei"/>
              </ns2:defRPr>
            </ns2:pPr>
            <ns2:r>
              <ns2:rPr sz="1800" b="1">
                <ns2:solidFill>
                  <ns2:srgbClr val="172F45"/>
                </ns2:solidFill>
                <ns2:latin typeface="Arial"/>
                <ns2:ea typeface="Microsoft YaHei"/>
                <ns2:cs typeface="Microsoft YaHei"/>
              </ns2:rPr>
              <ns2:t>方法不断调整</ns2:t>
            </ns2:r>
          </ns2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91973-DB46-45D7-AC8D-3118A781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3:p xmlns:ns3="http://schemas.openxmlformats.org/drawingml/2006/main">
            <ns3:pPr>
              <ns3:defRPr sz="1800" b="1">
                <ns3:solidFill>
                  <ns3:srgbClr val="172F45"/>
                </ns3:solidFill>
                <ns3:latin typeface="Arial"/>
                <ns3:ea typeface="Microsoft YaHei"/>
                <ns3:cs typeface="Microsoft YaHei"/>
              </ns3:defRPr>
            </ns3:pPr>
            <ns3:r>
              <ns3:rPr sz="1800" b="1">
                <ns3:solidFill>
                  <ns3:srgbClr val="172F45"/>
                </ns3:solidFill>
                <ns3:latin typeface="Arial"/>
                <ns3:ea typeface="Microsoft YaHei"/>
                <ns3:cs typeface="Microsoft YaHei"/>
              </ns3:rPr>
              <ns3:t>工具与测试同步完善</ns3:t>
            </ns3:r>
          </ns3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1CEEC-0098-43CF-BDE0-F0DD8E6E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A8F"/>
                </a:solidFill>
                <a:latin typeface="Arial"/>
                <a:ea typeface="Microsoft YaHei"/>
                <a:cs typeface="Microsoft YaHei"/>
              </a:defRPr>
            </a:pPr>
            <a:r>
              <a:rPr sz="1050" b="1">
                <a:solidFill>
                  <a:srgbClr val="276A8F"/>
                </a:solidFill>
                <a:latin typeface="Arial"/>
                <a:ea typeface="Microsoft YaHei"/>
                <a:cs typeface="Microsoft YaHei"/>
              </a:rPr>
              <a:t>2025.05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52F32-5CBC-4FBB-9E74-F533A702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F45"/>
                </a:solidFill>
                <a:latin typeface="Arial"/>
                <a:ea typeface="Microsoft YaHei"/>
                <a:cs typeface="Microsoft YaHei"/>
              </a:defRPr>
            </a:pPr>
            <a:r>
              <a:rPr sz="1350" b="0">
                <a:solidFill>
                  <a:srgbClr val="172F45"/>
                </a:solidFill>
                <a:latin typeface="Arial"/>
                <a:ea typeface="Microsoft YaHei"/>
                <a:cs typeface="Microsoft YaHei"/>
              </a:rPr>
              <a:t>swap optimizer、简单权重交换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0DEA5-A202-4C6C-8DF5-C908687C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defRPr>
            </a:pPr>
            <a:r>
              <a:rPr sz="12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rPr>
              <a:t>单 rank 交换约束及配套 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1214B-178B-42BB-970F-317140D8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A8F"/>
                </a:solidFill>
                <a:latin typeface="Arial"/>
                <a:ea typeface="Microsoft YaHei"/>
                <a:cs typeface="Microsoft YaHei"/>
              </a:defRPr>
            </a:pPr>
            <a:r>
              <a:rPr sz="1050" b="1">
                <a:solidFill>
                  <a:srgbClr val="276A8F"/>
                </a:solidFill>
                <a:latin typeface="Arial"/>
                <a:ea typeface="Microsoft YaHei"/>
                <a:cs typeface="Microsoft YaHei"/>
              </a:rPr>
              <a:t>生成与接入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C742B-626F-42EB-B9A3-33F4B0C8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987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F45"/>
                </a:solidFill>
                <a:latin typeface="Arial"/>
                <a:ea typeface="Microsoft YaHei"/>
                <a:cs typeface="Microsoft YaHei"/>
              </a:defRPr>
            </a:pPr>
            <a:r>
              <a:rPr sz="1350" b="0">
                <a:solidFill>
                  <a:srgbClr val="172F45"/>
                </a:solidFill>
                <a:latin typeface="Arial"/>
                <a:ea typeface="Microsoft YaHei"/>
                <a:cs typeface="Microsoft YaHei"/>
              </a:rPr>
              <a:t>Pattern 生成流水线与基础配置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260BE-FAE2-4FAF-B608-C4E49C99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defRPr>
            </a:pPr>
            <a:r>
              <a:rPr sz="12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rPr>
              <a:t>基准 Pattern、路径与部署工具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D684D-F340-44CC-9054-44A61424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A8F"/>
                </a:solidFill>
                <a:latin typeface="Arial"/>
                <a:ea typeface="Microsoft YaHei"/>
                <a:cs typeface="Microsoft YaHei"/>
              </a:defRPr>
            </a:pPr>
            <a:r>
              <a:rPr sz="1050" b="1">
                <a:solidFill>
                  <a:srgbClr val="276A8F"/>
                </a:solidFill>
                <a:latin typeface="Arial"/>
                <a:ea typeface="Microsoft YaHei"/>
                <a:cs typeface="Microsoft YaHei"/>
              </a:rPr>
              <a:t>2025.06 上旬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24280-38D1-4E68-81A0-D82E7157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F45"/>
                </a:solidFill>
                <a:latin typeface="Arial"/>
                <a:ea typeface="Microsoft YaHei"/>
                <a:cs typeface="Microsoft YaHei"/>
              </a:defRPr>
            </a:pPr>
            <a:r>
              <a:rPr sz="1350" b="0">
                <a:solidFill>
                  <a:srgbClr val="172F45"/>
                </a:solidFill>
                <a:latin typeface="Arial"/>
                <a:ea typeface="Microsoft YaHei"/>
                <a:cs typeface="Microsoft YaHei"/>
              </a:rPr>
              <a:t>冗余 / 非冗余统一处理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C5688-FC61-40C3-98F1-15CA1B2B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defRPr>
            </a:pPr>
            <a:r>
              <a:rPr sz="12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rPr>
              <a:t>Hungarian 输出确定性、算法验证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93C91-792F-4AA2-A959-B6B3D6CA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A8F"/>
                </a:solidFill>
                <a:latin typeface="Arial"/>
                <a:ea typeface="Microsoft YaHei"/>
                <a:cs typeface="Microsoft YaHei"/>
              </a:defRPr>
            </a:pPr>
            <a:r>
              <a:rPr sz="1050" b="1">
                <a:solidFill>
                  <a:srgbClr val="276A8F"/>
                </a:solidFill>
                <a:latin typeface="Arial"/>
                <a:ea typeface="Microsoft YaHei"/>
                <a:cs typeface="Microsoft YaHei"/>
              </a:rPr>
              <a:t>测试与调试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971C0-E38C-4190-8220-7E7468FA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F45"/>
                </a:solidFill>
                <a:latin typeface="Arial"/>
                <a:ea typeface="Microsoft YaHei"/>
                <a:cs typeface="Microsoft YaHei"/>
              </a:defRPr>
            </a:pPr>
            <a:r>
              <a:rPr sz="1350" b="0">
                <a:solidFill>
                  <a:srgbClr val="172F45"/>
                </a:solidFill>
                <a:latin typeface="Arial"/>
                <a:ea typeface="Microsoft YaHei"/>
                <a:cs typeface="Microsoft YaHei"/>
              </a:rPr>
              <a:t>C++ / Python UT、测试耗时优化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DD1011-8C0C-4CC6-810A-DE0F7CB4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defRPr>
            </a:pPr>
            <a:r>
              <a:rPr sz="12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rPr>
              <a:t>调试开关、算法验证与异常修复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E4AF6-AA18-43B5-825C-98EBE9DE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A8F"/>
                </a:solidFill>
                <a:latin typeface="Arial"/>
                <a:ea typeface="Microsoft YaHei"/>
                <a:cs typeface="Microsoft YaHei"/>
              </a:defRPr>
            </a:pPr>
            <a:r>
              <a:rPr sz="1050" b="1">
                <a:solidFill>
                  <a:srgbClr val="276A8F"/>
                </a:solidFill>
                <a:latin typeface="Arial"/>
                <a:ea typeface="Microsoft YaHei"/>
                <a:cs typeface="Microsoft YaHei"/>
              </a:rPr>
              <a:t>2025.06 中下旬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B90ED7-DC92-4122-B97D-D4A7F7DC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F45"/>
                </a:solidFill>
                <a:latin typeface="Arial"/>
                <a:ea typeface="Microsoft YaHei"/>
                <a:cs typeface="Microsoft YaHei"/>
              </a:defRPr>
            </a:pPr>
            <a:r>
              <a:rPr sz="1350" b="0">
                <a:solidFill>
                  <a:srgbClr val="172F45"/>
                </a:solidFill>
                <a:latin typeface="Arial"/>
                <a:ea typeface="Microsoft YaHei"/>
                <a:cs typeface="Microsoft YaHei"/>
              </a:rPr>
              <a:t>greedy / bucket 方法迭代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8D7B22-9AD6-4DCD-BD36-393B3E6A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defRPr>
            </a:pPr>
            <a:r>
              <a:rPr sz="1200" b="0">
                <a:solidFill>
                  <a:srgbClr val="4A5968"/>
                </a:solidFill>
                <a:latin typeface="Arial"/>
                <a:ea typeface="Microsoft YaHei"/>
                <a:cs typeface="Microsoft YaHei"/>
              </a:rPr>
              <a:t>停止条件、递归与优先级排序、批次排序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8C908-E001-4DD2-9486-E2EB8A12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A8F"/>
                </a:solidFill>
                <a:latin typeface="Arial"/>
                <a:ea typeface="Microsoft YaHei"/>
                <a:cs typeface="Microsoft YaHei"/>
              </a:defRPr>
            </a:pPr>
            <a:r>
              <a:rPr sz="1050" b="1">
                <a:solidFill>
                  <a:srgbClr val="276A8F"/>
                </a:solidFill>
                <a:latin typeface="Arial"/>
                <a:ea typeface="Microsoft YaHei"/>
                <a:cs typeface="Microsoft YaHei"/>
              </a:rPr>
              <a:t>分析与交付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A2324C-8C79-495F-8EA6-FC37A90B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3392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F45"/>
                </a:solidFill>
                <a:latin typeface="Arial"/>
                <a:ea typeface="Microsoft YaHei"/>
                <a:cs typeface="Microsoft YaHei"/>
              </a:defRPr>
            </a:pPr>
            <a:r>
              <a:rPr sz="1350" b="0">
                <a:solidFill>
                  <a:srgbClr val="172F45"/>
                </a:solidFill>
                <a:latin typeface="Arial"/>
                <a:ea typeface="Microsoft YaHei"/>
                <a:cs typeface="Microsoft YaHei"/>
              </a:rPr>
              <a:t>负载不均衡可视化与使用文档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6234DF-00B0-40A3-94C9-3D419EA0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4:p xmlns:ns4="http://schemas.openxmlformats.org/drawingml/2006/main">
            <ns4:pPr>
              <ns4:defRPr sz="1200" b="0">
                <ns4:solidFill>
                  <ns4:srgbClr val="4A5968"/>
                </ns4:solidFill>
                <ns4:latin typeface="Arial"/>
                <ns4:ea typeface="Microsoft YaHei"/>
                <ns4:cs typeface="Microsoft YaHei"/>
              </ns4:defRPr>
            </ns4:pPr>
            <ns4:r>
              <ns4:rPr sz="1200" b="0">
                <ns4:solidFill>
                  <ns4:srgbClr val="4A5968"/>
                </ns4:solidFill>
                <ns4:latin typeface="Arial"/>
                <ns4:ea typeface="Microsoft YaHei"/>
                <ns4:cs typeface="Microsoft YaHei"/>
              </ns4:rPr>
              <ns4:t>比较候选方案，定位问题并联调</ns4:t>
            </ns4:r>
          </ns4:p>
        </p:txBody>
      </p:sp>
      <p:sp xmlns:a="http://schemas.openxmlformats.org/drawingml/2006/main">
        <p:nvSpPr>
          <p:cNvPr id="30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3642770"/>
      </p:ext>
    </p:extLst>
  </p:cSld>
</p:sld>
</file>

<file path=ppt/slides/slide3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524B2-F871-4A3B-82B0-E2D86D89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0:p xmlns:ns0="http://schemas.openxmlformats.org/drawingml/2006/main">
            <ns0:pPr>
              <ns0:defRPr sz="2800" b="0">
                <ns0:solidFill>
                  <ns0:srgbClr val="172F45"/>
                </ns0:solidFill>
                <ns0:latin typeface="Arial"/>
                <ns0:ea typeface="Microsoft YaHei"/>
                <ns0:cs typeface="Microsoft YaHei"/>
              </ns0:defRPr>
            </ns0:pPr>
            <ns0:r>
              <ns0:rPr sz="2800" b="0">
                <ns0:solidFill>
                  <ns0:srgbClr val="172F45"/>
                </ns0:solidFill>
                <ns0:latin typeface="Arial"/>
                <ns0:ea typeface="Microsoft YaHei"/>
                <ns0:cs typeface="Microsoft YaHei"/>
              </ns0:rPr>
              <ns0:t>感谢一路指导和支持我的领导、导师与同事</ns0:t>
            </ns0:r>
          </ns0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1FDD8-8BB9-4750-A809-AEFA42FA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A8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C65B2-838C-4DCE-84BE-2580CEAE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0:p xmlns:ns0="http://schemas.openxmlformats.org/drawingml/2006/main">
            <ns0:pPr>
              <ns0:defRPr sz="1800" b="0">
                <ns0:solidFill>
                  <ns0:srgbClr val="4A5968"/>
                </ns0:solidFill>
                <ns0:latin typeface="Arial"/>
                <ns0:ea typeface="Microsoft YaHei"/>
                <ns0:cs typeface="Microsoft YaHei"/>
              </ns0:defRPr>
            </ns0:pPr>
            <ns0:r>
              <ns0:rPr sz="1600" b="0">
                <ns0:solidFill>
                  <ns0:srgbClr val="4A5968"/>
                </ns0:solidFill>
                <ns0:latin typeface="Arial"/>
                <ns0:ea typeface="Microsoft YaHei"/>
                <ns0:cs typeface="Microsoft YaHei"/>
              </ns0:rPr>
              <ns0:t>感谢领导和导师在选题、研究和项目推进中的指导</ns0:t>
            </ns0:r>
          </ns0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0F69D-7E21-4795-8DE8-A053F79F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1:p xmlns:ns1="http://schemas.openxmlformats.org/drawingml/2006/main">
            <ns1:pPr>
              <ns1:defRPr sz="1700" b="0">
                <ns1:solidFill>
                  <ns1:srgbClr val="4A5968"/>
                </ns1:solidFill>
                <ns1:latin typeface="Arial"/>
                <ns1:ea typeface="Microsoft YaHei"/>
                <ns1:cs typeface="Microsoft YaHei"/>
              </ns1:defRPr>
            </ns1:pPr>
            <ns1:r>
              <ns1:rPr sz="1600" b="0">
                <ns1:solidFill>
                  <ns1:srgbClr val="4A5968"/>
                </ns1:solidFill>
                <ns1:latin typeface="Arial"/>
                <ns1:ea typeface="Microsoft YaHei"/>
                <ns1:cs typeface="Microsoft YaHei"/>
              </ns1:rPr>
              <ns1:t>感谢一起做项目的同事</ns1:t>
            </ns1:r>
          </ns1:p>
          <ns2:p xmlns:ns2="http://schemas.openxmlformats.org/drawingml/2006/main">
            <ns2:pPr>
              <ns2:defRPr sz="1700" b="0">
                <ns2:solidFill>
                  <ns2:srgbClr val="4A5968"/>
                </ns2:solidFill>
                <ns2:latin typeface="Arial"/>
                <ns2:ea typeface="Microsoft YaHei"/>
                <ns2:cs typeface="Microsoft YaHei"/>
              </ns2:defRPr>
            </ns2:pPr>
            <ns2:r>
              <ns2:rPr sz="1600" b="0">
                <ns2:solidFill>
                  <ns2:srgbClr val="4A5968"/>
                </ns2:solidFill>
                <ns2:latin typeface="Arial"/>
                <ns2:ea typeface="Microsoft YaHei"/>
                <ns2:cs typeface="Microsoft YaHei"/>
              </ns2:rPr>
              <ns2:t>一起讨论方案、评审代码、排查问题，把工作一点点推进</ns2:t>
            </ns2:r>
          </ns2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C4F9A-3640-41F9-BFC4-68453EC3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3:p xmlns:ns3="http://schemas.openxmlformats.org/drawingml/2006/main">
            <ns3:pPr>
              <ns3:defRPr sz="1800" b="0">
                <ns3:solidFill>
                  <ns3:srgbClr val="172F45"/>
                </ns3:solidFill>
                <ns3:latin typeface="Arial"/>
                <ns3:ea typeface="Microsoft YaHei"/>
                <ns3:cs typeface="Microsoft YaHei"/>
              </ns3:defRPr>
            </ns3:pPr>
            <ns3:r>
              <ns3:rPr sz="1600" b="0">
                <ns3:solidFill>
                  <ns3:srgbClr val="172F45"/>
                </ns3:solidFill>
                <ns3:latin typeface="Arial"/>
                <ns3:ea typeface="Microsoft YaHei"/>
                <ns3:cs typeface="Microsoft YaHei"/>
              </ns3:rPr>
              <ns3:t>感谢各位专家的时间和建议，请批评指正</ns3:t>
            </ns3:r>
          </ns3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8C2DE-6DB2-403F-BA9C-AD18E9D8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97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48391"/>
                </a:solidFill>
                <a:latin typeface="Arial"/>
                <a:ea typeface="Microsoft YaHei"/>
                <a:cs typeface="Microsoft YaHei"/>
              </a:defRPr>
            </a:pPr>
            <a:r>
              <a:rPr sz="1200" b="0">
                <a:solidFill>
                  <a:srgbClr val="748391"/>
                </a:solidFill>
                <a:latin typeface="Arial"/>
                <a:ea typeface="Microsoft YaHei"/>
                <a:cs typeface="Microsoft YaHei"/>
              </a:rPr>
              <a:t>陶壮    2026年9月18日</a:t>
            </a:r>
          </a:p>
        </p:txBody>
      </p:sp>
      <p:sp>
        <p:nvSpPr>
          <p:cNvPr id="100" name="Editable 100">
            <a:extLst xmlns:a="http://schemas.openxmlformats.org/drawingml/2006/main">
              <a:ext uri="{FF2B5EF4-FFF2-40B4-BE49-F238E27FC236}">
                <a16:creationId xmlns:a16="http://schemas.microsoft.com/office/drawing/2014/main" id="{17FC65B2-838C-4DCE-84BE-2580CEAE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ns0:p xmlns:ns0="http://schemas.openxmlformats.org/drawingml/2006/main">
            <ns0:pPr>
              <ns0:defRPr sz="1800" b="0">
                <ns0:solidFill>
                  <ns0:srgbClr val="4A5968"/>
                </ns0:solidFill>
                <ns0:latin typeface="Arial"/>
                <ns0:ea typeface="Microsoft YaHei"/>
                <ns0:cs typeface="Microsoft YaHei"/>
              </ns0:defRPr>
            </ns0:pPr>
            <ns0:r>
              <ns0:rPr sz="1700" b="0">
                <ns0:solidFill>
                  <ns0:srgbClr val="4A5968"/>
                </ns0:solidFill>
                <ns0:latin typeface="Arial"/>
                <ns0:ea typeface="Microsoft YaHei"/>
                <ns0:cs typeface="Microsoft YaHei"/>
              </ns0:rPr>
              <ns0:t>特别感谢 </ns0:t>
            </ns0:r>
            <ns0:r>
              <ns0:rPr sz="1700" b="1">
                <ns0:solidFill>
                  <ns0:srgbClr val="276A8F"/>
                </ns0:solidFill>
                <ns0:latin typeface="Arial"/>
                <ns0:ea typeface="Microsoft YaHei"/>
                <ns0:cs typeface="Microsoft YaHei"/>
              </ns0:rPr>
              <ns0:t>Ken Zhang</ns0:t>
            </ns0:r>
            <ns0:r>
              <ns0:rPr sz="1700" b="0">
                <ns0:solidFill>
                  <ns0:srgbClr val="4A5968"/>
                </ns0:solidFill>
                <ns0:latin typeface="Arial"/>
                <ns0:ea typeface="Microsoft YaHei"/>
                <ns0:cs typeface="Microsoft YaHei"/>
              </ns0:rPr>
              <ns0:t> 老师</ns0:t>
            </ns0:r>
          </ns0:p>
          <ns1:p xmlns:ns1="http://schemas.openxmlformats.org/drawingml/2006/main">
            <ns1:pPr>
              <ns1:defRPr sz="1800" b="0">
                <ns1:solidFill>
                  <ns1:srgbClr val="4A5968"/>
                </ns1:solidFill>
                <ns1:latin typeface="Arial"/>
                <ns1:ea typeface="Microsoft YaHei"/>
                <ns1:cs typeface="Microsoft YaHei"/>
              </ns1:defRPr>
            </ns1:pPr>
            <ns1:r>
              <ns1:rPr sz="1700" b="0">
                <ns1:solidFill>
                  <ns1:srgbClr val="4A5968"/>
                </ns1:solidFill>
                <ns1:latin typeface="Arial"/>
                <ns1:ea typeface="Microsoft YaHei"/>
                <ns1:cs typeface="Microsoft YaHei"/>
              </ns1:rPr>
              <ns1:t>指导我从工程实践中提炼研究问题，并将理论思考落实到系统实现</ns1:t>
            </ns1:r>
          </ns1:p>
        </p:txBody>
      </p:sp>
    </p:spTree>
    <p:extLst>
      <p:ext uri="{BB962C8B-B14F-4D97-AF65-F5344CB8AC3E}">
        <p14:creationId xmlns:p14="http://schemas.microsoft.com/office/powerpoint/2010/main" val="320616811"/>
      </p:ext>
    </p:extLst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7200"/>
            <a:ext cx="28575" cy="1143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50" y="419100"/>
            <a:ext cx="476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48391"/>
                </a:solidFill>
                <a:latin typeface="Arial"/>
                <a:ea typeface="Microsoft YaHei"/>
              </a:rPr>
              <a:t>03 / 两个层级的推理优化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66750"/>
            <a:ext cx="10668000" cy="526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800" b="0">
                <a:solidFill>
                  <a:srgbClr val="172F45"/>
                </a:solidFill>
                <a:latin typeface="Arial"/>
                <a:ea typeface="Microsoft YaHei"/>
              </a:rPr>
              <a:t>请求路由把负载均衡扩展到</a:t>
            </a:r>
            <a:r>
              <a:rPr sz="2800" b="1">
                <a:solidFill>
                  <a:srgbClr val="276A8F"/>
                </a:solidFill>
                <a:latin typeface="Arial"/>
                <a:ea typeface="Microsoft YaHei"/>
              </a:rPr>
              <a:t>模型服务层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288542"/>
            <a:ext cx="609600" cy="28575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05475"/>
            <a:ext cx="10668000" cy="381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5705475"/>
            <a:ext cx="28575" cy="381000"/>
          </a:xfrm>
          <a:prstGeom prst="rect">
            <a:avLst/>
          </a:prstGeom>
          <a:solidFill>
            <a:srgbClr val="27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3450" y="5819775"/>
            <a:ext cx="103441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72F45"/>
                </a:solidFill>
                <a:latin typeface="Arial"/>
                <a:ea typeface="Microsoft YaHei"/>
              </a:rPr>
              <a:t>请求路由调节集群间的请求分布，EPLB 调节模型内部的专家计算分布</a:t>
            </a:r>
          </a:p>
        </p:txBody>
      </p:sp>
      <p:sp>
        <p:nvSpPr>
          <p:cNvPr id="41" name="Slide number"/>
          <p:cNvSpPr txBox="1"/>
          <p:nvPr/>
        </p:nvSpPr>
        <p:spPr>
          <a:xfrm>
            <a:off x="10858500" y="638175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48391"/>
                </a:solidFill>
                <a:latin typeface="Arial"/>
                <a:ea typeface="Microsoft YaHei"/>
              </a:rPr>
              <a:t>27</a:t>
            </a:r>
          </a:p>
        </p:txBody>
      </p:sp>
      <p:sp>
        <p:nvSpPr>
          <p:cNvPr id="101" name="Editable 101"/>
          <p:cNvSpPr txBox="1"/>
          <p:nvPr/>
        </p:nvSpPr>
        <p:spPr>
          <a:xfrm>
            <a:off x="762000" y="2238375"/>
            <a:ext cx="2143125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1" i="0">
                <a:solidFill>
                  <a:srgbClr val="172F45"/>
                </a:solidFill>
                <a:latin typeface="Arial"/>
                <a:ea typeface="Microsoft YaHei"/>
              </a:rPr>
              <a:t>模型服务级</a:t>
            </a:r>
          </a:p>
        </p:txBody>
      </p:sp>
      <p:sp>
        <p:nvSpPr>
          <p:cNvPr id="102" name="Editable 102"/>
          <p:cNvSpPr txBox="1"/>
          <p:nvPr/>
        </p:nvSpPr>
        <p:spPr>
          <a:xfrm>
            <a:off x="762000" y="2676525"/>
            <a:ext cx="21431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请求交给哪个集群</a:t>
            </a:r>
          </a:p>
        </p:txBody>
      </p:sp>
      <p:sp>
        <p:nvSpPr>
          <p:cNvPr id="103" name="Editable 103"/>
          <p:cNvSpPr/>
          <p:nvPr/>
        </p:nvSpPr>
        <p:spPr>
          <a:xfrm>
            <a:off x="3143250" y="2038350"/>
            <a:ext cx="1619250" cy="104775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Editable 104"/>
          <p:cNvSpPr/>
          <p:nvPr/>
        </p:nvSpPr>
        <p:spPr>
          <a:xfrm>
            <a:off x="4953000" y="2038350"/>
            <a:ext cx="2857500" cy="1047750"/>
          </a:xfrm>
          <a:prstGeom prst="rect">
            <a:avLst/>
          </a:prstGeom>
          <a:solidFill>
            <a:srgbClr val="EDF4F8"/>
          </a:solidFill>
          <a:ln w="9525">
            <a:solidFill>
              <a:srgbClr val="B7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Editable 105"/>
          <p:cNvSpPr/>
          <p:nvPr/>
        </p:nvSpPr>
        <p:spPr>
          <a:xfrm>
            <a:off x="8001000" y="2038350"/>
            <a:ext cx="3429000" cy="104775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Editable 106"/>
          <p:cNvSpPr txBox="1"/>
          <p:nvPr/>
        </p:nvSpPr>
        <p:spPr>
          <a:xfrm>
            <a:off x="3276600" y="2247900"/>
            <a:ext cx="13525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500" b="1" i="0">
                <a:solidFill>
                  <a:srgbClr val="172F45"/>
                </a:solidFill>
                <a:latin typeface="Arial"/>
                <a:ea typeface="Microsoft YaHei"/>
              </a:rPr>
              <a:t>业务请求</a:t>
            </a:r>
          </a:p>
        </p:txBody>
      </p:sp>
      <p:sp>
        <p:nvSpPr>
          <p:cNvPr id="107" name="Editable 107"/>
          <p:cNvSpPr txBox="1"/>
          <p:nvPr/>
        </p:nvSpPr>
        <p:spPr>
          <a:xfrm>
            <a:off x="3238500" y="2657475"/>
            <a:ext cx="142875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4A5968"/>
                </a:solidFill>
                <a:latin typeface="Arial"/>
                <a:ea typeface="Microsoft YaHei"/>
              </a:rPr>
              <a:t>会话与请求身份</a:t>
            </a:r>
          </a:p>
        </p:txBody>
      </p:sp>
      <p:sp>
        <p:nvSpPr>
          <p:cNvPr id="108" name="Editable 108"/>
          <p:cNvSpPr txBox="1"/>
          <p:nvPr/>
        </p:nvSpPr>
        <p:spPr>
          <a:xfrm>
            <a:off x="5086350" y="2228850"/>
            <a:ext cx="2590800" cy="2952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600" b="1" i="0">
                <a:solidFill>
                  <a:srgbClr val="276A8F"/>
                </a:solidFill>
                <a:latin typeface="Arial"/>
                <a:ea typeface="Microsoft YaHei"/>
              </a:rPr>
              <a:t>网关请求路由</a:t>
            </a:r>
          </a:p>
        </p:txBody>
      </p:sp>
      <p:sp>
        <p:nvSpPr>
          <p:cNvPr id="109" name="Editable 109"/>
          <p:cNvSpPr txBox="1"/>
          <p:nvPr/>
        </p:nvSpPr>
        <p:spPr>
          <a:xfrm>
            <a:off x="5048250" y="2657475"/>
            <a:ext cx="2667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健康候选、会话和并发负载</a:t>
            </a:r>
          </a:p>
        </p:txBody>
      </p:sp>
      <p:sp>
        <p:nvSpPr>
          <p:cNvPr id="110" name="Editable 110"/>
          <p:cNvSpPr txBox="1"/>
          <p:nvPr/>
        </p:nvSpPr>
        <p:spPr>
          <a:xfrm>
            <a:off x="8134350" y="2228850"/>
            <a:ext cx="3162300" cy="2952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模型服务集群</a:t>
            </a:r>
          </a:p>
        </p:txBody>
      </p:sp>
      <p:sp>
        <p:nvSpPr>
          <p:cNvPr id="111" name="Editable 111"/>
          <p:cNvSpPr txBox="1"/>
          <p:nvPr/>
        </p:nvSpPr>
        <p:spPr>
          <a:xfrm>
            <a:off x="8096250" y="2657475"/>
            <a:ext cx="3238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在集群 A / B / … 中选择目标</a:t>
            </a:r>
          </a:p>
        </p:txBody>
      </p:sp>
      <p:cxnSp>
        <p:nvCxnSpPr>
          <p:cNvPr id="112" name="Connector 112"/>
          <p:cNvCxnSpPr/>
          <p:nvPr/>
        </p:nvCxnSpPr>
        <p:spPr>
          <a:xfrm>
            <a:off x="4791075" y="2562225"/>
            <a:ext cx="133350" cy="0"/>
          </a:xfrm>
          <a:prstGeom prst="line">
            <a:avLst/>
          </a:prstGeom>
          <a:ln w="15240">
            <a:solidFill>
              <a:srgbClr val="A4B3BF"/>
            </a:solidFill>
            <a:tailEnd type="triangle" w="sm" len="sm"/>
          </a:ln>
        </p:spPr>
      </p:cxnSp>
      <p:cxnSp>
        <p:nvCxnSpPr>
          <p:cNvPr id="113" name="Connector 113"/>
          <p:cNvCxnSpPr/>
          <p:nvPr/>
        </p:nvCxnSpPr>
        <p:spPr>
          <a:xfrm>
            <a:off x="7839075" y="2562225"/>
            <a:ext cx="133350" cy="0"/>
          </a:xfrm>
          <a:prstGeom prst="line">
            <a:avLst/>
          </a:prstGeom>
          <a:ln w="15240">
            <a:solidFill>
              <a:srgbClr val="A4B3BF"/>
            </a:solidFill>
            <a:tailEnd type="triangle" w="sm" len="sm"/>
          </a:ln>
        </p:spPr>
      </p:cxnSp>
      <p:sp>
        <p:nvSpPr>
          <p:cNvPr id="114" name="Editable 114"/>
          <p:cNvSpPr txBox="1"/>
          <p:nvPr/>
        </p:nvSpPr>
        <p:spPr>
          <a:xfrm>
            <a:off x="762000" y="4067175"/>
            <a:ext cx="2143125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1" i="0">
                <a:solidFill>
                  <a:srgbClr val="172F45"/>
                </a:solidFill>
                <a:latin typeface="Arial"/>
                <a:ea typeface="Microsoft YaHei"/>
              </a:rPr>
              <a:t>模型执行级</a:t>
            </a:r>
          </a:p>
        </p:txBody>
      </p:sp>
      <p:sp>
        <p:nvSpPr>
          <p:cNvPr id="115" name="Editable 115"/>
          <p:cNvSpPr txBox="1"/>
          <p:nvPr/>
        </p:nvSpPr>
        <p:spPr>
          <a:xfrm>
            <a:off x="762000" y="4505325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4A5968"/>
                </a:solidFill>
                <a:latin typeface="Arial"/>
                <a:ea typeface="Microsoft YaHei"/>
              </a:rPr>
              <a:t>专家计算怎样分到卡上</a:t>
            </a:r>
          </a:p>
        </p:txBody>
      </p:sp>
      <p:sp>
        <p:nvSpPr>
          <p:cNvPr id="116" name="Editable 116"/>
          <p:cNvSpPr/>
          <p:nvPr/>
        </p:nvSpPr>
        <p:spPr>
          <a:xfrm>
            <a:off x="3143250" y="3667125"/>
            <a:ext cx="8286750" cy="1714500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Editable 117"/>
          <p:cNvSpPr txBox="1"/>
          <p:nvPr/>
        </p:nvSpPr>
        <p:spPr>
          <a:xfrm>
            <a:off x="3286125" y="3743325"/>
            <a:ext cx="7239000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748391"/>
                </a:solidFill>
                <a:latin typeface="Arial"/>
                <a:ea typeface="Microsoft YaHei"/>
              </a:rPr>
              <a:t>选定的 MoE 集群内部</a:t>
            </a:r>
          </a:p>
        </p:txBody>
      </p:sp>
      <p:sp>
        <p:nvSpPr>
          <p:cNvPr id="118" name="Editable 118"/>
          <p:cNvSpPr/>
          <p:nvPr/>
        </p:nvSpPr>
        <p:spPr>
          <a:xfrm>
            <a:off x="3333750" y="4086225"/>
            <a:ext cx="2952750" cy="1038225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Editable 119"/>
          <p:cNvSpPr/>
          <p:nvPr/>
        </p:nvSpPr>
        <p:spPr>
          <a:xfrm>
            <a:off x="6953250" y="4086225"/>
            <a:ext cx="4238625" cy="1038225"/>
          </a:xfrm>
          <a:prstGeom prst="rect">
            <a:avLst/>
          </a:prstGeom>
          <a:solidFill>
            <a:srgbClr val="F5F7FA"/>
          </a:solidFill>
          <a:ln w="9525">
            <a:solidFill>
              <a:srgbClr val="D7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Editable 120"/>
          <p:cNvSpPr txBox="1"/>
          <p:nvPr/>
        </p:nvSpPr>
        <p:spPr>
          <a:xfrm>
            <a:off x="3419475" y="4210050"/>
            <a:ext cx="2781300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600" b="1" i="0">
                <a:solidFill>
                  <a:srgbClr val="276A8F"/>
                </a:solidFill>
                <a:latin typeface="Arial"/>
                <a:ea typeface="Microsoft YaHei"/>
              </a:rPr>
              <a:t>OmniPlacement / EPLB</a:t>
            </a:r>
          </a:p>
        </p:txBody>
      </p:sp>
      <p:sp>
        <p:nvSpPr>
          <p:cNvPr id="121" name="Editable 121"/>
          <p:cNvSpPr txBox="1"/>
          <p:nvPr/>
        </p:nvSpPr>
        <p:spPr>
          <a:xfrm>
            <a:off x="3429000" y="4657725"/>
            <a:ext cx="27622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专家重排、副本与动态调整</a:t>
            </a:r>
          </a:p>
        </p:txBody>
      </p:sp>
      <p:sp>
        <p:nvSpPr>
          <p:cNvPr id="122" name="Editable 122"/>
          <p:cNvSpPr txBox="1"/>
          <p:nvPr/>
        </p:nvSpPr>
        <p:spPr>
          <a:xfrm>
            <a:off x="7086600" y="4210050"/>
            <a:ext cx="3971925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600" b="1" i="0">
                <a:solidFill>
                  <a:srgbClr val="172F45"/>
                </a:solidFill>
                <a:latin typeface="Arial"/>
                <a:ea typeface="Microsoft YaHei"/>
              </a:rPr>
              <a:t>卡间专家负载</a:t>
            </a:r>
          </a:p>
        </p:txBody>
      </p:sp>
      <p:sp>
        <p:nvSpPr>
          <p:cNvPr id="123" name="Editable 123"/>
          <p:cNvSpPr txBox="1"/>
          <p:nvPr/>
        </p:nvSpPr>
        <p:spPr>
          <a:xfrm>
            <a:off x="7086600" y="4657725"/>
            <a:ext cx="39719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A5968"/>
                </a:solidFill>
                <a:latin typeface="Arial"/>
                <a:ea typeface="Microsoft YaHei"/>
              </a:rPr>
              <a:t>根据专家激活分布，分散热点计算</a:t>
            </a:r>
          </a:p>
        </p:txBody>
      </p:sp>
      <p:cxnSp>
        <p:nvCxnSpPr>
          <p:cNvPr id="124" name="Connector 124"/>
          <p:cNvCxnSpPr/>
          <p:nvPr/>
        </p:nvCxnSpPr>
        <p:spPr>
          <a:xfrm>
            <a:off x="6343650" y="4591050"/>
            <a:ext cx="542925" cy="0"/>
          </a:xfrm>
          <a:prstGeom prst="line">
            <a:avLst/>
          </a:prstGeom>
          <a:ln w="15240">
            <a:solidFill>
              <a:srgbClr val="A4B3BF"/>
            </a:solidFill>
            <a:tailEnd type="triangle" w="sm" len="sm"/>
          </a:ln>
        </p:spPr>
      </p:cxnSp>
      <p:cxnSp>
        <p:nvCxnSpPr>
          <p:cNvPr id="125" name="Connector 125"/>
          <p:cNvCxnSpPr/>
          <p:nvPr/>
        </p:nvCxnSpPr>
        <p:spPr>
          <a:xfrm>
            <a:off x="9715500" y="3124200"/>
            <a:ext cx="0" cy="495300"/>
          </a:xfrm>
          <a:prstGeom prst="line">
            <a:avLst/>
          </a:prstGeom>
          <a:ln w="15240">
            <a:solidFill>
              <a:srgbClr val="A4B3BF"/>
            </a:solidFill>
            <a:tailEnd type="triangle" w="sm" len="sm"/>
          </a:ln>
        </p:spPr>
      </p:cxnSp>
      <p:sp>
        <p:nvSpPr>
          <p:cNvPr id="126" name="Editable 126"/>
          <p:cNvSpPr txBox="1"/>
          <p:nvPr/>
        </p:nvSpPr>
        <p:spPr>
          <a:xfrm>
            <a:off x="7524750" y="3295650"/>
            <a:ext cx="2047875" cy="257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748391"/>
                </a:solidFill>
                <a:latin typeface="Arial"/>
                <a:ea typeface="Microsoft YaHei"/>
              </a:rPr>
              <a:t>请求进入选定集群执行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 Blue">
  <a:themeElements>
    <a:clrScheme name="Academic Blue">
      <a:dk1>
        <a:srgbClr val="172F45"/>
      </a:dk1>
      <a:lt1>
        <a:srgbClr val="666666"/>
      </a:lt1>
      <a:dk2>
        <a:srgbClr val="FFFFFF"/>
      </a:dk2>
      <a:lt2>
        <a:srgbClr val="D7E0E7"/>
      </a:lt2>
      <a:accent1>
        <a:srgbClr val="276A8F"/>
      </a:accent1>
      <a:accent2>
        <a:srgbClr val="20516B"/>
      </a:accent2>
      <a:accent3>
        <a:srgbClr val="9B7949"/>
      </a:accent3>
      <a:accent4>
        <a:srgbClr val="C4AC6B"/>
      </a:accent4>
      <a:accent5>
        <a:srgbClr val="558777"/>
      </a:accent5>
      <a:accent6>
        <a:srgbClr val="268A91"/>
      </a:accent6>
      <a:hlink>
        <a:srgbClr val="276A8F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172F45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Academic Blue">
  <a:themeElements>
    <a:clrScheme name="Academic Blue">
      <a:dk1>
        <a:srgbClr val="172F45"/>
      </a:dk1>
      <a:lt1>
        <a:srgbClr val="666666"/>
      </a:lt1>
      <a:dk2>
        <a:srgbClr val="FFFFFF"/>
      </a:dk2>
      <a:lt2>
        <a:srgbClr val="D7E0E7"/>
      </a:lt2>
      <a:accent1>
        <a:srgbClr val="276A8F"/>
      </a:accent1>
      <a:accent2>
        <a:srgbClr val="20516B"/>
      </a:accent2>
      <a:accent3>
        <a:srgbClr val="9B7949"/>
      </a:accent3>
      <a:accent4>
        <a:srgbClr val="C4AC6B"/>
      </a:accent4>
      <a:accent5>
        <a:srgbClr val="558777"/>
      </a:accent5>
      <a:accent6>
        <a:srgbClr val="268A91"/>
      </a:accent6>
      <a:hlink>
        <a:srgbClr val="276A8F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172F45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Academic Blue">
  <a:themeElements>
    <a:clrScheme name="Academic Blue">
      <a:dk1>
        <a:srgbClr val="172F45"/>
      </a:dk1>
      <a:lt1>
        <a:srgbClr val="666666"/>
      </a:lt1>
      <a:dk2>
        <a:srgbClr val="FFFFFF"/>
      </a:dk2>
      <a:lt2>
        <a:srgbClr val="D7E0E7"/>
      </a:lt2>
      <a:accent1>
        <a:srgbClr val="276A8F"/>
      </a:accent1>
      <a:accent2>
        <a:srgbClr val="20516B"/>
      </a:accent2>
      <a:accent3>
        <a:srgbClr val="9B7949"/>
      </a:accent3>
      <a:accent4>
        <a:srgbClr val="C4AC6B"/>
      </a:accent4>
      <a:accent5>
        <a:srgbClr val="558777"/>
      </a:accent5>
      <a:accent6>
        <a:srgbClr val="268A91"/>
      </a:accent6>
      <a:hlink>
        <a:srgbClr val="276A8F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172F45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Academic Blue">
  <a:themeElements>
    <a:clrScheme name="Academic Blue">
      <a:dk1>
        <a:srgbClr val="172F45"/>
      </a:dk1>
      <a:lt1>
        <a:srgbClr val="666666"/>
      </a:lt1>
      <a:dk2>
        <a:srgbClr val="FFFFFF"/>
      </a:dk2>
      <a:lt2>
        <a:srgbClr val="D7E0E7"/>
      </a:lt2>
      <a:accent1>
        <a:srgbClr val="276A8F"/>
      </a:accent1>
      <a:accent2>
        <a:srgbClr val="20516B"/>
      </a:accent2>
      <a:accent3>
        <a:srgbClr val="9B7949"/>
      </a:accent3>
      <a:accent4>
        <a:srgbClr val="C4AC6B"/>
      </a:accent4>
      <a:accent5>
        <a:srgbClr val="558777"/>
      </a:accent5>
      <a:accent6>
        <a:srgbClr val="268A91"/>
      </a:accent6>
      <a:hlink>
        <a:srgbClr val="276A8F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172F45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Academic Blue">
  <a:themeElements>
    <a:clrScheme name="Academic Blu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Academic Blue">
  <a:themeElements>
    <a:clrScheme name="Academic Blu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22075</TotalTime>
  <Words>5832</Words>
  <Application>Microsoft Office PowerPoint</Application>
  <PresentationFormat>自定义</PresentationFormat>
  <Paragraphs>898</Paragraphs>
  <Slides>36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.AppleSystemUIFont</vt:lpstr>
      <vt:lpstr>黑体</vt:lpstr>
      <vt:lpstr>楷体</vt:lpstr>
      <vt:lpstr>Microsoft YaHei</vt:lpstr>
      <vt:lpstr>Arial</vt:lpstr>
      <vt:lpstr>Calibri</vt:lpstr>
      <vt:lpstr>封面页_图片版 </vt:lpstr>
      <vt:lpstr>目录页</vt:lpstr>
      <vt:lpstr>章节页</vt:lpstr>
      <vt:lpstr>结束页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大模型基础设施关键技术研究与工程实践</dc:title>
  <dc:subject>OmniInfer / DataInfra / Omni-ELB，项目总览与个人工作定位</dc:subject>
  <dc:creator>陶壮</dc:creator>
  <cp:keywords>博士后出站考核,OmniPlacement,Omni-EPLB,DataInfra,Omni-ELB</cp:keywords>
  <dc:description>论文数据版。OmniPlacement 消融数值来自用户提供的 arXiv v2 Table 2，保留 TTFT 权衡与单位说明。</dc:description>
  <cp:lastModifiedBy>taozhuang</cp:lastModifiedBy>
  <cp:revision>50</cp:revision>
  <dcterms:created xsi:type="dcterms:W3CDTF">2025-11-12T03:32:04Z</dcterms:created>
  <dcterms:modified xsi:type="dcterms:W3CDTF">2026-09-13T06:03:43Z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(3)hJc+TisFZJKAt1U5G8L17dMgTfw0wvNPjLBKhwPVl2m97NfDhCq1l4nEiv7yWq+mgv94yYY8
g1oi4YjdaWPnaTXcW/WJLVavmc1tyi87xqqZW4kg2lwNgWzYoo+dAZmb3lHmF2zAqXJ/yL62
pYtGyeMHx0M+7eNwshHyjHFRc7MCUfnecLwQOHFzWancuqAwvK67IKv70LtWokmu7swhOXQH
u5IRWSWWTF8Q9Lu5iU</vt:lpwstr>
  </property>
  <property fmtid="{D5CDD505-2E9C-101B-9397-08002B2CF9AE}" pid="3" name="_2015_ms_pID_7253431">
    <vt:lpwstr>C8/dEwwgPoXQHda7pCSxLyHg6XfOqLyv2PxCrPFcbG4wVcp4JGRS6E
ligcuPsb+qV8yuGlyjmQ3RIbsw61Iu6yj8XuUlt9Vuz00Ugn3qVFwwS8MKGgiBPB4mDABAS5
WRtnE6Wjf8J1lC4L4YkEVOFyj0BQsZrPJq5qAU7ynymTbzGCQ7qisPpjRo6mgZ9waTt2vIEL
x72pMhMn33jEnvlb0PLfsHI+1R4EKdfMe5df</vt:lpwstr>
  </property>
  <property fmtid="{D5CDD505-2E9C-101B-9397-08002B2CF9AE}" pid="4" name="_2015_ms_pID_7253432">
    <vt:lpwstr>UQ==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